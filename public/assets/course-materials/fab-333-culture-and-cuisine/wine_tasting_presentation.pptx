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1EDD0-1662-6E45-8088-F5CDA69450BD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0CBF3-C261-C049-A7CB-22135CF1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5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0CBF3-C261-C049-A7CB-22135CF14D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58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C7A7-3206-0007-FB49-8241692C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458B7-C443-F2F0-40F4-E8A0222D2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2C91E-EC56-EC66-8767-ACF35CD93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1DC3-0DDD-082B-A709-2F2ABDB97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0CBF3-C261-C049-A7CB-22135CF14D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89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587D-3E49-18DF-7A7A-F2ECB6DC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92891-B799-B3DC-F57F-475FCE713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FEA96-2050-7D9D-9DFC-00FFF77D9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8C442-97C6-4224-9DDA-842BF1268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0CBF3-C261-C049-A7CB-22135CF14D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36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C157-7E39-C852-3AE8-E74E756A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53460-4017-4152-3D62-5601D217E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2F18-201C-CC8C-8B7C-F0CC6396E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12CDD-8B1A-BDC0-6A3E-38483B1EE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0CBF3-C261-C049-A7CB-22135CF14D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89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8E9C-3300-DF44-1D27-4BB04A7F0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980DB-153D-521E-CA6B-7CD4E126C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3A83-E6FD-EDEE-47CA-0D5C9B29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E409E-4A1D-7585-E0B4-AB0DF635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CCC3-32C1-4F59-DA77-3A8B6C6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1E6E-0A83-C0A8-4232-1D4130B6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C2E3A-6BBE-E039-93D8-1C38D1D8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CDFDF-0A4A-E619-4485-EA4A3AC6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6DA1E-3A69-6710-3F99-7D2312BE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D302A-F294-F87F-ECF2-1E6C4AC0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1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8F02-7388-CD98-4B1D-D9F0C861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BE4B1-58AF-A370-2298-E861558B0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BBBC0-4CBB-F134-A675-FFCB4CDA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D1A17-C992-816E-F6AD-DB31CB31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0CF7-35E4-8A64-A80F-BDA3B76E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8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7AD7-5613-870C-A228-1F330C38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7EF56-156B-B532-7CDC-D6B5F9DDF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BC4AC-2D17-246C-EE88-0DC052247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CA779-BFEE-B8C9-A84B-6AD5A611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A5F87-E7AC-6C0B-FAAC-9F7C6114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D6B07-AD2C-3617-FB20-D4295FAD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1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5E7A-C2A5-80EC-DF44-B5A8D383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B302F-13A5-1675-D320-910D7C1FE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3AF05-079A-43EA-D129-F976E9BD5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57CDC-09A5-1D73-B9D9-4572801E3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2B729-F974-57E5-95B4-98AD5CC42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62301-DBE5-5AC9-6336-F1273756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318942-87CC-E486-1499-59431E4C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810E2-9F0A-969A-B635-7783A194C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3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579E-7724-DCBB-BC89-54EFE61F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CACA6-AAC6-7904-8A7B-F6AD5EE0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05D44-74AA-9A19-6416-D3EC5679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6254E-FD29-7871-6BC4-25CCC8B8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27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03FCB-1B7E-B1DA-F6B0-576D8991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CB538-27CC-42A5-1A4C-E35F1F6F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CFE42-4EA5-2D44-4A91-020085B3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8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803E-31C2-B217-8CD2-25758AB8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A2EFC-89D3-EC1C-4E67-C7CF286A8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F54DB-F87C-6FBC-4A64-BB043E03E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E82F7-1AA1-42D0-7BDB-E584155E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0693F-DFF4-FACC-330F-140FF702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B83DF-7EA2-BB85-A290-7EF9FFE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BC88-6D61-7CA6-A2F9-7AD06CE9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21CCD-DBC8-BD5D-4BB4-F2B666C6E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10813-528A-DC4A-EF2E-793492398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F7854-BEB3-2B2A-8A06-81B89C95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786EE-82EF-D4F0-F104-2BC4168F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42C09-CBBA-D1DC-8701-758E59B9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8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1A8F-E5ED-6984-E3AF-2392768B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1B1C0-289F-5416-F7FD-3623B09D1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577D9-2D6D-E3F2-2EA9-C9B7D797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C5547-465D-7D7C-960E-2D8555DE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321F7-45DB-8CAD-5FBA-BD1B60A3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5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DE82B-D1B9-0278-EB51-88F07A401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673F0-23A2-046B-D09E-88EED530F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C1CA9-856A-E191-F3D8-790F34BB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BB22-DA63-84CF-9955-1CFD462B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53A52-868A-FDD1-824C-35A6EBA7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ADB6E-D99E-86C7-1BBD-9A55CB99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1059C-F46E-1558-B3A3-9570B616F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1C1ED-A885-90C1-599F-F6E3BCDD9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4CB1B-6ACC-404B-9046-356CA6B8F488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4B3D9-0178-F5D8-5886-FD5EF56F6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04138-7F9F-0FDC-9A93-E1EEB0905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0FFB1-A564-E840-AA05-6EABBE6D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3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5614-2966-5B8C-C463-F4B93BE668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Wine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4576D-B785-AC35-ECE0-7B3572F383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42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EE61-EA4A-4670-5DBF-59C88B45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C881-E093-C34C-C549-1C9B244B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Wine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68B51-BAFA-A219-9AFA-FB6003EAC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79659" cy="4351338"/>
          </a:xfrm>
        </p:spPr>
        <p:txBody>
          <a:bodyPr/>
          <a:lstStyle/>
          <a:p>
            <a:r>
              <a:rPr lang="en-US" dirty="0"/>
              <a:t>Wine is about the journey and the discovery</a:t>
            </a:r>
          </a:p>
          <a:p>
            <a:pPr lvl="1"/>
            <a:r>
              <a:rPr lang="en-US" dirty="0"/>
              <a:t>Be open minded!!</a:t>
            </a:r>
          </a:p>
          <a:p>
            <a:pPr lvl="1"/>
            <a:r>
              <a:rPr lang="en-US" dirty="0"/>
              <a:t>Don’t be intimidated</a:t>
            </a:r>
          </a:p>
          <a:p>
            <a:r>
              <a:rPr lang="en-US" dirty="0"/>
              <a:t>Wine is about sharing</a:t>
            </a:r>
          </a:p>
          <a:p>
            <a:r>
              <a:rPr lang="en-US" dirty="0"/>
              <a:t>Wine is about appreciation</a:t>
            </a:r>
          </a:p>
          <a:p>
            <a:r>
              <a:rPr lang="en-US" dirty="0"/>
              <a:t>Wine is social and enriches the soul</a:t>
            </a:r>
          </a:p>
          <a:p>
            <a:r>
              <a:rPr lang="en-US" dirty="0"/>
              <a:t>Wine is FUN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C8FE0-073B-B5E8-EAD7-18C55698A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444" y="2358745"/>
            <a:ext cx="46345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1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FECC-D375-1F41-F4BA-FA6A5F66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2EE1-BE4B-BBBE-9C64-165ADECAE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wine?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27D4A-4014-6C88-87C2-9CC963DA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Wine is an alcoholic beverage made from fermentation of grape juice</a:t>
            </a:r>
          </a:p>
          <a:p>
            <a:r>
              <a:rPr lang="en-US" dirty="0"/>
              <a:t>Dates back to around 6000 BC and originated in somewhere around Iran/</a:t>
            </a:r>
            <a:r>
              <a:rPr lang="en-US" dirty="0" err="1"/>
              <a:t>Gerogia</a:t>
            </a:r>
            <a:endParaRPr lang="en-US" dirty="0"/>
          </a:p>
          <a:p>
            <a:r>
              <a:rPr lang="en-US" dirty="0"/>
              <a:t>Moved to Europe in about 4500BC in Bulgaria and Greece</a:t>
            </a:r>
          </a:p>
          <a:p>
            <a:r>
              <a:rPr lang="en-US" dirty="0"/>
              <a:t>Wine has played an important role in religion and culture</a:t>
            </a:r>
          </a:p>
          <a:p>
            <a:pPr lvl="1"/>
            <a:r>
              <a:rPr lang="en-US" dirty="0"/>
              <a:t>Green god Dionysos</a:t>
            </a:r>
          </a:p>
          <a:p>
            <a:pPr lvl="1"/>
            <a:r>
              <a:rPr lang="en-US" dirty="0"/>
              <a:t>Roman Bacchus</a:t>
            </a:r>
          </a:p>
          <a:p>
            <a:pPr lvl="1"/>
            <a:r>
              <a:rPr lang="en-US" dirty="0"/>
              <a:t>Many formal religious ceremonies around wine</a:t>
            </a:r>
          </a:p>
        </p:txBody>
      </p:sp>
    </p:spTree>
    <p:extLst>
      <p:ext uri="{BB962C8B-B14F-4D97-AF65-F5344CB8AC3E}">
        <p14:creationId xmlns:p14="http://schemas.microsoft.com/office/powerpoint/2010/main" val="243475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4CC9-A558-19FB-28A5-D8391940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E5AC-790D-7B0C-11C4-FB009773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Wine?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2A573-51E1-AA4D-19F8-D737C9BF5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083056" cy="4351338"/>
          </a:xfrm>
        </p:spPr>
        <p:txBody>
          <a:bodyPr>
            <a:normAutofit/>
          </a:bodyPr>
          <a:lstStyle/>
          <a:p>
            <a:r>
              <a:rPr lang="en-US" dirty="0"/>
              <a:t>Fermentation</a:t>
            </a:r>
          </a:p>
          <a:p>
            <a:pPr lvl="1"/>
            <a:r>
              <a:rPr lang="en-US" dirty="0"/>
              <a:t>Sugar + Yeast = Alcohol + Co2</a:t>
            </a:r>
          </a:p>
          <a:p>
            <a:r>
              <a:rPr lang="en-US" dirty="0"/>
              <a:t>Grapes</a:t>
            </a:r>
          </a:p>
          <a:p>
            <a:r>
              <a:rPr lang="en-US" dirty="0"/>
              <a:t>Vitis vinifera (Chardonnay, Cabernet Sauvignon, Merlot)</a:t>
            </a:r>
          </a:p>
          <a:p>
            <a:r>
              <a:rPr lang="en-US" dirty="0"/>
              <a:t>Vitis labrusca (Concord, Niagara, Catawba)</a:t>
            </a:r>
          </a:p>
          <a:p>
            <a:r>
              <a:rPr lang="en-US" dirty="0"/>
              <a:t>Hybrids</a:t>
            </a:r>
          </a:p>
        </p:txBody>
      </p:sp>
      <p:pic>
        <p:nvPicPr>
          <p:cNvPr id="6" name="Picture 5" descr="A person standing in a field of vines&#10;&#10;AI-generated content may be incorrect.">
            <a:extLst>
              <a:ext uri="{FF2B5EF4-FFF2-40B4-BE49-F238E27FC236}">
                <a16:creationId xmlns:a16="http://schemas.microsoft.com/office/drawing/2014/main" id="{6C215F53-937E-0FCC-9616-A28C9F61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>
            <a:fillRect/>
          </a:stretch>
        </p:blipFill>
        <p:spPr>
          <a:xfrm>
            <a:off x="8436135" y="3385483"/>
            <a:ext cx="3549197" cy="3472517"/>
          </a:xfrm>
          <a:prstGeom prst="rect">
            <a:avLst/>
          </a:prstGeom>
        </p:spPr>
      </p:pic>
      <p:pic>
        <p:nvPicPr>
          <p:cNvPr id="8" name="Picture 7" descr="A person in a blue shirt talking to a person in a vineyard&#10;&#10;AI-generated content may be incorrect.">
            <a:extLst>
              <a:ext uri="{FF2B5EF4-FFF2-40B4-BE49-F238E27FC236}">
                <a16:creationId xmlns:a16="http://schemas.microsoft.com/office/drawing/2014/main" id="{15F7CC74-A06E-5747-2B66-71339A290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457" y="158750"/>
            <a:ext cx="3063875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9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AA71-1B68-3637-B26C-ABBC5081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30A6-8BFF-53BA-1EC3-28777833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wine made?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81C4-72A3-1384-7893-3D818CEFB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79659" cy="4351338"/>
          </a:xfrm>
        </p:spPr>
        <p:txBody>
          <a:bodyPr>
            <a:normAutofit/>
          </a:bodyPr>
          <a:lstStyle/>
          <a:p>
            <a:r>
              <a:rPr lang="en-US" dirty="0"/>
              <a:t>Grapes require specific growing conditions</a:t>
            </a:r>
          </a:p>
          <a:p>
            <a:r>
              <a:rPr lang="en-US" dirty="0"/>
              <a:t>Geography</a:t>
            </a:r>
          </a:p>
          <a:p>
            <a:pPr lvl="1"/>
            <a:r>
              <a:rPr lang="en-US" dirty="0"/>
              <a:t>Growing season = frost free days</a:t>
            </a:r>
          </a:p>
          <a:p>
            <a:pPr lvl="1"/>
            <a:r>
              <a:rPr lang="en-US" dirty="0"/>
              <a:t>Number of sunny days</a:t>
            </a:r>
          </a:p>
          <a:p>
            <a:pPr lvl="1"/>
            <a:r>
              <a:rPr lang="en-US" dirty="0"/>
              <a:t>Soils -&gt; terroir</a:t>
            </a:r>
          </a:p>
          <a:p>
            <a:r>
              <a:rPr lang="en-US" dirty="0"/>
              <a:t>Climate</a:t>
            </a:r>
          </a:p>
          <a:p>
            <a:pPr lvl="1"/>
            <a:r>
              <a:rPr lang="en-US" dirty="0"/>
              <a:t>Sunlight, </a:t>
            </a:r>
            <a:r>
              <a:rPr lang="en-US" dirty="0" err="1"/>
              <a:t>termperature</a:t>
            </a:r>
            <a:r>
              <a:rPr lang="en-US" dirty="0"/>
              <a:t>, rainfall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FF06BB-B853-9848-501A-65B2CD5D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67194"/>
            <a:ext cx="5907741" cy="383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3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6A1EF-4F97-6E21-F9E3-FD817DAC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98235C-5C80-D8DC-0682-98C9F6EA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81" y="105979"/>
            <a:ext cx="9327777" cy="66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9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D3FF-3F0C-DB60-5370-24114383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0F65-CCB1-563C-FC42-186D4260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taste wine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2AE99-214F-80C3-897F-43EE112C3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5" t="15882" r="3860" b="17060"/>
          <a:stretch>
            <a:fillRect/>
          </a:stretch>
        </p:blipFill>
        <p:spPr>
          <a:xfrm>
            <a:off x="6096000" y="1863622"/>
            <a:ext cx="5764307" cy="4141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409016-3E8C-D297-6EEF-ED5E7000D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85" y="1215950"/>
            <a:ext cx="5436927" cy="543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52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B6E5-B919-D34F-0BB2-149C1862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C70C-9E5B-0337-3E33-5132E8E2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Appearance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86062-D977-A863-CF1D-8860D38B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59" y="1744943"/>
            <a:ext cx="5468471" cy="4351338"/>
          </a:xfrm>
        </p:spPr>
        <p:txBody>
          <a:bodyPr>
            <a:normAutofit/>
          </a:bodyPr>
          <a:lstStyle/>
          <a:p>
            <a:r>
              <a:rPr lang="en-US" sz="2400" dirty="0"/>
              <a:t>Observe color from core to rim</a:t>
            </a:r>
          </a:p>
          <a:p>
            <a:r>
              <a:rPr lang="en-US" sz="2400" dirty="0"/>
              <a:t>Assess intensity: pale, medium, deep</a:t>
            </a:r>
          </a:p>
          <a:p>
            <a:r>
              <a:rPr lang="en-US" sz="2400" dirty="0"/>
              <a:t>Evaluate clarity: clear, hazy, sediment present</a:t>
            </a:r>
          </a:p>
          <a:p>
            <a:r>
              <a:rPr lang="en-US" sz="2400" dirty="0"/>
              <a:t>Examine rim variation for signs of youth or age</a:t>
            </a:r>
          </a:p>
          <a:p>
            <a:r>
              <a:rPr lang="en-US" sz="2400" dirty="0"/>
              <a:t>Swirl and assess viscosity and leg formation</a:t>
            </a:r>
          </a:p>
          <a:p>
            <a:r>
              <a:rPr lang="en-US" sz="2400" dirty="0"/>
              <a:t>Consider what visual cues suggest about alcohol, residual sugar, or development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CE886-2266-5900-A855-38D2CDB36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4" t="12939" r="4952" b="5287"/>
          <a:stretch>
            <a:fillRect/>
          </a:stretch>
        </p:blipFill>
        <p:spPr>
          <a:xfrm>
            <a:off x="5580530" y="1609666"/>
            <a:ext cx="6494929" cy="448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3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D083-2EE4-87B9-ED17-4102B0AA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8154-76A4-9E24-581F-4B0CBC0A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456FC-995C-DF27-88CB-FA0E519B6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59" y="1744943"/>
            <a:ext cx="5468471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Smell before swirling, then after swirling</a:t>
            </a:r>
          </a:p>
          <a:p>
            <a:r>
              <a:rPr lang="en-US" sz="2400" dirty="0"/>
              <a:t>Evaluate aromatic intensity</a:t>
            </a:r>
          </a:p>
          <a:p>
            <a:r>
              <a:rPr lang="en-US" sz="2400" dirty="0"/>
              <a:t>Identify fruit characteristics</a:t>
            </a:r>
          </a:p>
          <a:p>
            <a:r>
              <a:rPr lang="en-US" sz="2400" dirty="0"/>
              <a:t>Identify non fruit characteristics such as floral, herbal, spice, mineral</a:t>
            </a:r>
          </a:p>
          <a:p>
            <a:r>
              <a:rPr lang="en-US" sz="2400" dirty="0"/>
              <a:t>Distinguish fresh versus developed notes</a:t>
            </a:r>
          </a:p>
          <a:p>
            <a:r>
              <a:rPr lang="en-US" sz="2400" dirty="0"/>
              <a:t>Consider overall aromatic complexity and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4B557D-0D00-9024-57BA-A8B65BEE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530" y="1619531"/>
            <a:ext cx="6320118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01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0DA5-B0DC-C5AE-2D64-B419C7E9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9DCB-9A18-2F3D-930A-C80C39AB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Taste and mouthfeel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476697-AB97-7C3A-CAEE-6B1F0A3E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83" y="1825625"/>
            <a:ext cx="609599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Assess sweetness level</a:t>
            </a:r>
          </a:p>
          <a:p>
            <a:r>
              <a:rPr lang="en-US" dirty="0"/>
              <a:t>Evaluate acidity through salivation response</a:t>
            </a:r>
          </a:p>
          <a:p>
            <a:r>
              <a:rPr lang="en-US" dirty="0"/>
              <a:t>Detect bitterness and where it appears</a:t>
            </a:r>
          </a:p>
          <a:p>
            <a:r>
              <a:rPr lang="en-US" dirty="0"/>
              <a:t>Determine body: light, medium, full</a:t>
            </a:r>
          </a:p>
          <a:p>
            <a:r>
              <a:rPr lang="en-US" dirty="0"/>
              <a:t>Evaluate texture: crisp, round, creamy, lean</a:t>
            </a:r>
          </a:p>
          <a:p>
            <a:r>
              <a:rPr lang="en-US" dirty="0"/>
              <a:t>Notice alcohol warmth and weight</a:t>
            </a:r>
          </a:p>
          <a:p>
            <a:r>
              <a:rPr lang="en-US" dirty="0"/>
              <a:t>Consider how structural elements interact and balance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5FD03D-3525-C601-CF00-4161E8DE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3" t="1249" r="28765" b="4684"/>
          <a:stretch>
            <a:fillRect/>
          </a:stretch>
        </p:blipFill>
        <p:spPr>
          <a:xfrm>
            <a:off x="6252882" y="365125"/>
            <a:ext cx="5782235" cy="59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6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4E87-3D9B-104F-16E5-408A2B2A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F342-7A7D-9EF3-C2F9-CD476683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19E88-410C-AF06-385B-9E56378D6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034" y="1465309"/>
            <a:ext cx="916192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Measure length: short, medium, long</a:t>
            </a:r>
          </a:p>
          <a:p>
            <a:r>
              <a:rPr lang="en-US" sz="2000" dirty="0"/>
              <a:t>Observe how flavors evolve after swallowing</a:t>
            </a:r>
          </a:p>
          <a:p>
            <a:r>
              <a:rPr lang="en-US" sz="2000" dirty="0"/>
              <a:t>Note whether acidity increases or fades</a:t>
            </a:r>
          </a:p>
          <a:p>
            <a:r>
              <a:rPr lang="en-US" sz="2000" dirty="0"/>
              <a:t>Identify lingering sweetness or building bitterness</a:t>
            </a:r>
          </a:p>
          <a:p>
            <a:r>
              <a:rPr lang="en-US" sz="2000" dirty="0"/>
              <a:t>Evaluate persistence and clarity of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6EC42-BC98-2C72-1D03-F383D78FB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22" t="22261" r="4209" b="15172"/>
          <a:stretch>
            <a:fillRect/>
          </a:stretch>
        </p:blipFill>
        <p:spPr>
          <a:xfrm>
            <a:off x="2525804" y="3640978"/>
            <a:ext cx="7140388" cy="321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2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340</Words>
  <Application>Microsoft Macintosh PowerPoint</Application>
  <PresentationFormat>Widescreen</PresentationFormat>
  <Paragraphs>65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Wine 101</vt:lpstr>
      <vt:lpstr>Philosophy of Wine</vt:lpstr>
      <vt:lpstr>What is wine?</vt:lpstr>
      <vt:lpstr>What is Wine?</vt:lpstr>
      <vt:lpstr>Where is wine made?</vt:lpstr>
      <vt:lpstr>PowerPoint Presentation</vt:lpstr>
      <vt:lpstr>How to taste wine</vt:lpstr>
      <vt:lpstr>Appearance</vt:lpstr>
      <vt:lpstr>Smell</vt:lpstr>
      <vt:lpstr>Taste and mouthfeel</vt:lpstr>
      <vt:lpstr>Finish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 Azizsoltani</dc:creator>
  <cp:lastModifiedBy>Mana Azizsoltani</cp:lastModifiedBy>
  <cp:revision>1</cp:revision>
  <dcterms:created xsi:type="dcterms:W3CDTF">2026-03-02T01:38:07Z</dcterms:created>
  <dcterms:modified xsi:type="dcterms:W3CDTF">2026-03-02T02:00:48Z</dcterms:modified>
</cp:coreProperties>
</file>