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0"/>
  </p:notesMasterIdLst>
  <p:sldIdLst>
    <p:sldId id="302" r:id="rId2"/>
    <p:sldId id="339" r:id="rId3"/>
    <p:sldId id="341" r:id="rId4"/>
    <p:sldId id="342" r:id="rId5"/>
    <p:sldId id="343" r:id="rId6"/>
    <p:sldId id="340" r:id="rId7"/>
    <p:sldId id="344" r:id="rId8"/>
    <p:sldId id="345" r:id="rId9"/>
  </p:sldIdLst>
  <p:sldSz cx="9601200" cy="7315200"/>
  <p:notesSz cx="6881813" cy="9296400"/>
  <p:defaultTextStyle>
    <a:defPPr>
      <a:defRPr lang="en-US"/>
    </a:defPPr>
    <a:lvl1pPr marL="0" algn="l" defTabSz="966612" rtl="0" eaLnBrk="1" latinLnBrk="0" hangingPunct="1">
      <a:defRPr sz="1903" kern="1200">
        <a:solidFill>
          <a:schemeClr val="tx1"/>
        </a:solidFill>
        <a:latin typeface="+mn-lt"/>
        <a:ea typeface="+mn-ea"/>
        <a:cs typeface="+mn-cs"/>
      </a:defRPr>
    </a:lvl1pPr>
    <a:lvl2pPr marL="483306" algn="l" defTabSz="966612" rtl="0" eaLnBrk="1" latinLnBrk="0" hangingPunct="1">
      <a:defRPr sz="1903" kern="1200">
        <a:solidFill>
          <a:schemeClr val="tx1"/>
        </a:solidFill>
        <a:latin typeface="+mn-lt"/>
        <a:ea typeface="+mn-ea"/>
        <a:cs typeface="+mn-cs"/>
      </a:defRPr>
    </a:lvl2pPr>
    <a:lvl3pPr marL="966612" algn="l" defTabSz="966612" rtl="0" eaLnBrk="1" latinLnBrk="0" hangingPunct="1">
      <a:defRPr sz="1903" kern="1200">
        <a:solidFill>
          <a:schemeClr val="tx1"/>
        </a:solidFill>
        <a:latin typeface="+mn-lt"/>
        <a:ea typeface="+mn-ea"/>
        <a:cs typeface="+mn-cs"/>
      </a:defRPr>
    </a:lvl3pPr>
    <a:lvl4pPr marL="1449918" algn="l" defTabSz="966612" rtl="0" eaLnBrk="1" latinLnBrk="0" hangingPunct="1">
      <a:defRPr sz="1903" kern="1200">
        <a:solidFill>
          <a:schemeClr val="tx1"/>
        </a:solidFill>
        <a:latin typeface="+mn-lt"/>
        <a:ea typeface="+mn-ea"/>
        <a:cs typeface="+mn-cs"/>
      </a:defRPr>
    </a:lvl4pPr>
    <a:lvl5pPr marL="1933224" algn="l" defTabSz="966612" rtl="0" eaLnBrk="1" latinLnBrk="0" hangingPunct="1">
      <a:defRPr sz="1903" kern="1200">
        <a:solidFill>
          <a:schemeClr val="tx1"/>
        </a:solidFill>
        <a:latin typeface="+mn-lt"/>
        <a:ea typeface="+mn-ea"/>
        <a:cs typeface="+mn-cs"/>
      </a:defRPr>
    </a:lvl5pPr>
    <a:lvl6pPr marL="2416531" algn="l" defTabSz="966612" rtl="0" eaLnBrk="1" latinLnBrk="0" hangingPunct="1">
      <a:defRPr sz="1903" kern="1200">
        <a:solidFill>
          <a:schemeClr val="tx1"/>
        </a:solidFill>
        <a:latin typeface="+mn-lt"/>
        <a:ea typeface="+mn-ea"/>
        <a:cs typeface="+mn-cs"/>
      </a:defRPr>
    </a:lvl6pPr>
    <a:lvl7pPr marL="2899837" algn="l" defTabSz="966612" rtl="0" eaLnBrk="1" latinLnBrk="0" hangingPunct="1">
      <a:defRPr sz="1903" kern="1200">
        <a:solidFill>
          <a:schemeClr val="tx1"/>
        </a:solidFill>
        <a:latin typeface="+mn-lt"/>
        <a:ea typeface="+mn-ea"/>
        <a:cs typeface="+mn-cs"/>
      </a:defRPr>
    </a:lvl7pPr>
    <a:lvl8pPr marL="3383143" algn="l" defTabSz="966612" rtl="0" eaLnBrk="1" latinLnBrk="0" hangingPunct="1">
      <a:defRPr sz="1903" kern="1200">
        <a:solidFill>
          <a:schemeClr val="tx1"/>
        </a:solidFill>
        <a:latin typeface="+mn-lt"/>
        <a:ea typeface="+mn-ea"/>
        <a:cs typeface="+mn-cs"/>
      </a:defRPr>
    </a:lvl8pPr>
    <a:lvl9pPr marL="3866449" algn="l" defTabSz="966612" rtl="0" eaLnBrk="1" latinLnBrk="0" hangingPunct="1">
      <a:defRPr sz="190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853B"/>
    <a:srgbClr val="005DA2"/>
    <a:srgbClr val="61477B"/>
    <a:srgbClr val="BD914B"/>
    <a:srgbClr val="C89A56"/>
    <a:srgbClr val="5E4478"/>
    <a:srgbClr val="66669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26" autoAdjust="0"/>
    <p:restoredTop sz="94673"/>
  </p:normalViewPr>
  <p:slideViewPr>
    <p:cSldViewPr snapToGrid="0" showGuides="1">
      <p:cViewPr varScale="1">
        <p:scale>
          <a:sx n="108" d="100"/>
          <a:sy n="108" d="100"/>
        </p:scale>
        <p:origin x="1880" y="200"/>
      </p:cViewPr>
      <p:guideLst>
        <p:guide orient="horz" pos="2352"/>
        <p:guide pos="3024"/>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1EE21CE4-1B37-41FF-8D41-A1F267C4B1C8}" type="datetimeFigureOut">
              <a:rPr lang="en-US" smtClean="0"/>
              <a:t>2/1/26</a:t>
            </a:fld>
            <a:endParaRPr lang="en-US"/>
          </a:p>
        </p:txBody>
      </p:sp>
      <p:sp>
        <p:nvSpPr>
          <p:cNvPr id="4" name="Slide Image Placeholder 3"/>
          <p:cNvSpPr>
            <a:spLocks noGrp="1" noRot="1" noChangeAspect="1"/>
          </p:cNvSpPr>
          <p:nvPr>
            <p:ph type="sldImg" idx="2"/>
          </p:nvPr>
        </p:nvSpPr>
        <p:spPr>
          <a:xfrm>
            <a:off x="1382713" y="1162050"/>
            <a:ext cx="41179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FB428302-3C6D-4291-BCAE-284F2A5F9F0F}" type="slidenum">
              <a:rPr lang="en-US" smtClean="0"/>
              <a:t>‹#›</a:t>
            </a:fld>
            <a:endParaRPr lang="en-US"/>
          </a:p>
        </p:txBody>
      </p:sp>
    </p:spTree>
    <p:extLst>
      <p:ext uri="{BB962C8B-B14F-4D97-AF65-F5344CB8AC3E}">
        <p14:creationId xmlns:p14="http://schemas.microsoft.com/office/powerpoint/2010/main" val="2803737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anyone tell me what the five tastes are?</a:t>
            </a:r>
          </a:p>
        </p:txBody>
      </p:sp>
      <p:sp>
        <p:nvSpPr>
          <p:cNvPr id="4" name="Slide Number Placeholder 3"/>
          <p:cNvSpPr>
            <a:spLocks noGrp="1"/>
          </p:cNvSpPr>
          <p:nvPr>
            <p:ph type="sldNum" sz="quarter" idx="5"/>
          </p:nvPr>
        </p:nvSpPr>
        <p:spPr/>
        <p:txBody>
          <a:bodyPr/>
          <a:lstStyle/>
          <a:p>
            <a:fld id="{FB428302-3C6D-4291-BCAE-284F2A5F9F0F}" type="slidenum">
              <a:rPr lang="en-US" smtClean="0"/>
              <a:t>1</a:t>
            </a:fld>
            <a:endParaRPr lang="en-US"/>
          </a:p>
        </p:txBody>
      </p:sp>
    </p:spTree>
    <p:extLst>
      <p:ext uri="{BB962C8B-B14F-4D97-AF65-F5344CB8AC3E}">
        <p14:creationId xmlns:p14="http://schemas.microsoft.com/office/powerpoint/2010/main" val="849841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1197187"/>
            <a:ext cx="8161020" cy="2546773"/>
          </a:xfrm>
        </p:spPr>
        <p:txBody>
          <a:bodyPr anchor="b">
            <a:normAutofit/>
          </a:bodyPr>
          <a:lstStyle>
            <a:lvl1pPr algn="ctr">
              <a:defRPr sz="6000"/>
            </a:lvl1pPr>
          </a:lstStyle>
          <a:p>
            <a:r>
              <a:rPr lang="en-US" dirty="0"/>
              <a:t>Click to edit Master title style</a:t>
            </a:r>
          </a:p>
        </p:txBody>
      </p:sp>
      <p:sp>
        <p:nvSpPr>
          <p:cNvPr id="3" name="Subtitle 2"/>
          <p:cNvSpPr>
            <a:spLocks noGrp="1"/>
          </p:cNvSpPr>
          <p:nvPr>
            <p:ph type="subTitle" idx="1"/>
          </p:nvPr>
        </p:nvSpPr>
        <p:spPr>
          <a:xfrm>
            <a:off x="1200150" y="3842174"/>
            <a:ext cx="7200900" cy="176614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Tree>
    <p:extLst>
      <p:ext uri="{BB962C8B-B14F-4D97-AF65-F5344CB8AC3E}">
        <p14:creationId xmlns:p14="http://schemas.microsoft.com/office/powerpoint/2010/main" val="98986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84169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389468"/>
            <a:ext cx="8281035" cy="141393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60083" y="1947333"/>
            <a:ext cx="8281035" cy="44795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811259" y="6734632"/>
            <a:ext cx="2505891" cy="38946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80848" y="6734633"/>
            <a:ext cx="2160270" cy="389467"/>
          </a:xfrm>
          <a:prstGeom prst="rect">
            <a:avLst/>
          </a:prstGeom>
        </p:spPr>
        <p:txBody>
          <a:bodyPr vert="horz" lIns="91440" tIns="45720" rIns="91440" bIns="45720" rtlCol="0" anchor="ctr"/>
          <a:lstStyle>
            <a:lvl1pPr algn="r">
              <a:defRPr sz="1260">
                <a:solidFill>
                  <a:schemeClr val="tx1">
                    <a:tint val="75000"/>
                  </a:schemeClr>
                </a:solidFill>
              </a:defRPr>
            </a:lvl1pPr>
          </a:lstStyle>
          <a:p>
            <a:fld id="{3F91D417-3DCA-4876-94CD-F5D856DBFFA3}" type="slidenum">
              <a:rPr lang="en-US" smtClean="0"/>
              <a:t>‹#›</a:t>
            </a:fld>
            <a:endParaRPr lang="en-US" dirty="0"/>
          </a:p>
        </p:txBody>
      </p:sp>
      <p:sp>
        <p:nvSpPr>
          <p:cNvPr id="7" name="Rectangle 6"/>
          <p:cNvSpPr>
            <a:spLocks noChangeArrowheads="1"/>
          </p:cNvSpPr>
          <p:nvPr userDrawn="1"/>
        </p:nvSpPr>
        <p:spPr bwMode="auto">
          <a:xfrm>
            <a:off x="488752" y="6530009"/>
            <a:ext cx="8517990" cy="59999"/>
          </a:xfrm>
          <a:prstGeom prst="rect">
            <a:avLst/>
          </a:prstGeom>
          <a:gradFill>
            <a:gsLst>
              <a:gs pos="73000">
                <a:srgbClr val="DB303A"/>
              </a:gs>
              <a:gs pos="100000">
                <a:schemeClr val="bg1"/>
              </a:gs>
            </a:gsLst>
            <a:lin ang="21594000" scaled="0"/>
          </a:gradFill>
          <a:ln>
            <a:noFill/>
          </a:ln>
          <a:effectLst/>
        </p:spPr>
        <p:txBody>
          <a:bodyPr rot="0" vert="horz" wrap="square" lIns="128016" tIns="128016" rIns="128016" bIns="128016" anchor="t" anchorCtr="0" upright="1">
            <a:noAutofit/>
          </a:bodyPr>
          <a:lstStyle/>
          <a:p>
            <a:pPr defTabSz="1280097">
              <a:defRPr/>
            </a:pPr>
            <a:endParaRPr lang="en-US" sz="2520" kern="0" dirty="0">
              <a:solidFill>
                <a:sysClr val="windowText" lastClr="000000"/>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51898" y="6766936"/>
            <a:ext cx="3069834" cy="324865"/>
          </a:xfrm>
          <a:prstGeom prst="rect">
            <a:avLst/>
          </a:prstGeom>
        </p:spPr>
      </p:pic>
    </p:spTree>
    <p:extLst>
      <p:ext uri="{BB962C8B-B14F-4D97-AF65-F5344CB8AC3E}">
        <p14:creationId xmlns:p14="http://schemas.microsoft.com/office/powerpoint/2010/main" val="441474086"/>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popsci.com/science/spicy-basic-taste/" TargetMode="External"/><Relationship Id="rId2" Type="http://schemas.openxmlformats.org/officeDocument/2006/relationships/hyperlink" Target="https://www.sciencehistory.org/stories/disappearingpod/accounting-fo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407" y="2088560"/>
            <a:ext cx="6415274" cy="1413934"/>
          </a:xfrm>
        </p:spPr>
        <p:txBody>
          <a:bodyPr>
            <a:normAutofit/>
          </a:bodyPr>
          <a:lstStyle/>
          <a:p>
            <a:pPr algn="ctr"/>
            <a:r>
              <a:rPr lang="en-US" sz="4000" b="1" dirty="0">
                <a:solidFill>
                  <a:srgbClr val="C00000"/>
                </a:solidFill>
                <a:latin typeface="Times New Roman" panose="02020603050405020304" pitchFamily="18" charset="0"/>
                <a:cs typeface="Times New Roman" panose="02020603050405020304" pitchFamily="18" charset="0"/>
              </a:rPr>
              <a:t>Food and Beverage Department </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6323572" y="1448564"/>
            <a:ext cx="2561590" cy="3842385"/>
          </a:xfrm>
          <a:prstGeom prst="rect">
            <a:avLst/>
          </a:prstGeom>
          <a:effectLst>
            <a:outerShdw blurRad="50800" dist="38100" dir="8100000" algn="tr" rotWithShape="0">
              <a:prstClr val="black">
                <a:alpha val="40000"/>
              </a:prstClr>
            </a:outerShdw>
          </a:effectLst>
        </p:spPr>
      </p:pic>
      <p:sp>
        <p:nvSpPr>
          <p:cNvPr id="5" name="Rectangle 4"/>
          <p:cNvSpPr/>
          <p:nvPr/>
        </p:nvSpPr>
        <p:spPr>
          <a:xfrm>
            <a:off x="1358200" y="3369757"/>
            <a:ext cx="4671017" cy="1200329"/>
          </a:xfrm>
          <a:prstGeom prst="rect">
            <a:avLst/>
          </a:prstGeom>
        </p:spPr>
        <p:txBody>
          <a:bodyPr wrap="square">
            <a:spAutoFit/>
          </a:bodyPr>
          <a:lstStyle/>
          <a:p>
            <a:pPr algn="ctr">
              <a:defRPr/>
            </a:pPr>
            <a:endParaRPr lang="en-US" sz="2400" b="1" dirty="0">
              <a:latin typeface="Times New Roman" panose="02020603050405020304" pitchFamily="18" charset="0"/>
              <a:cs typeface="Times New Roman" panose="02020603050405020304" pitchFamily="18" charset="0"/>
            </a:endParaRPr>
          </a:p>
          <a:p>
            <a:pPr algn="ctr">
              <a:defRPr/>
            </a:pPr>
            <a:r>
              <a:rPr lang="en-US" sz="2400" b="1" dirty="0">
                <a:latin typeface="Times New Roman" panose="02020603050405020304" pitchFamily="18" charset="0"/>
                <a:cs typeface="Times New Roman" panose="02020603050405020304" pitchFamily="18" charset="0"/>
              </a:rPr>
              <a:t>FAB 333 Culture &amp; Cuisine</a:t>
            </a:r>
          </a:p>
          <a:p>
            <a:pPr algn="ctr">
              <a:defRPr/>
            </a:pPr>
            <a:r>
              <a:rPr lang="en-US" sz="2400" b="1" dirty="0">
                <a:latin typeface="Times New Roman" panose="02020603050405020304" pitchFamily="18" charset="0"/>
                <a:cs typeface="Times New Roman" panose="02020603050405020304" pitchFamily="18" charset="0"/>
              </a:rPr>
              <a:t>How we Taste  </a:t>
            </a:r>
            <a:endParaRPr lang="en-US"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64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2</a:t>
            </a:fld>
            <a:endParaRPr lang="en-US" altLang="en-US" sz="1050">
              <a:latin typeface="Arial" panose="020B0604020202020204" pitchFamily="34" charset="0"/>
            </a:endParaRPr>
          </a:p>
        </p:txBody>
      </p:sp>
      <p:sp>
        <p:nvSpPr>
          <p:cNvPr id="5" name="Content Placeholder 2">
            <a:extLst>
              <a:ext uri="{FF2B5EF4-FFF2-40B4-BE49-F238E27FC236}">
                <a16:creationId xmlns:a16="http://schemas.microsoft.com/office/drawing/2014/main" id="{D11F136E-5645-4443-92A6-0A20E72F74B1}"/>
              </a:ext>
            </a:extLst>
          </p:cNvPr>
          <p:cNvSpPr>
            <a:spLocks noGrp="1"/>
          </p:cNvSpPr>
          <p:nvPr>
            <p:ph type="body" idx="1"/>
          </p:nvPr>
        </p:nvSpPr>
        <p:spPr>
          <a:xfrm>
            <a:off x="148675" y="373224"/>
            <a:ext cx="9452526" cy="6941977"/>
          </a:xfrm>
        </p:spPr>
        <p:txBody>
          <a:bodyPr>
            <a:normAutofit fontScale="47500" lnSpcReduction="20000"/>
          </a:bodyPr>
          <a:lstStyle/>
          <a:p>
            <a:pPr>
              <a:lnSpc>
                <a:spcPct val="120000"/>
              </a:lnSpc>
              <a:spcBef>
                <a:spcPts val="0"/>
              </a:spcBef>
            </a:pPr>
            <a:endParaRPr lang="en-US" sz="3800" i="0" dirty="0">
              <a:solidFill>
                <a:srgbClr val="C00000"/>
              </a:solidFill>
              <a:effectLst/>
              <a:latin typeface="Times New Roman" panose="02020603050405020304" pitchFamily="18" charset="0"/>
              <a:cs typeface="Times New Roman" panose="02020603050405020304" pitchFamily="18" charset="0"/>
            </a:endParaRPr>
          </a:p>
          <a:p>
            <a:pPr>
              <a:lnSpc>
                <a:spcPct val="120000"/>
              </a:lnSpc>
              <a:spcBef>
                <a:spcPts val="0"/>
              </a:spcBef>
            </a:pPr>
            <a:endParaRPr lang="en-US" sz="3800" i="0" dirty="0">
              <a:solidFill>
                <a:srgbClr val="C00000"/>
              </a:solidFill>
              <a:effectLst/>
              <a:latin typeface="Times New Roman" panose="02020603050405020304" pitchFamily="18" charset="0"/>
              <a:cs typeface="Times New Roman" panose="02020603050405020304" pitchFamily="18" charset="0"/>
            </a:endParaRPr>
          </a:p>
          <a:p>
            <a:pPr>
              <a:lnSpc>
                <a:spcPct val="120000"/>
              </a:lnSpc>
              <a:spcBef>
                <a:spcPts val="0"/>
              </a:spcBef>
            </a:pPr>
            <a:r>
              <a:rPr lang="en-US" sz="4200" i="0" dirty="0">
                <a:solidFill>
                  <a:srgbClr val="C00000"/>
                </a:solidFill>
                <a:effectLst/>
                <a:latin typeface="Times New Roman" panose="02020603050405020304" pitchFamily="18" charset="0"/>
                <a:cs typeface="Times New Roman" panose="02020603050405020304" pitchFamily="18" charset="0"/>
              </a:rPr>
              <a:t>Taste #1: </a:t>
            </a:r>
            <a:r>
              <a:rPr lang="en-US" sz="5100" b="1" i="0" dirty="0">
                <a:solidFill>
                  <a:srgbClr val="C00000"/>
                </a:solidFill>
                <a:effectLst/>
                <a:latin typeface="Times New Roman" panose="02020603050405020304" pitchFamily="18" charset="0"/>
                <a:cs typeface="Times New Roman" panose="02020603050405020304" pitchFamily="18" charset="0"/>
              </a:rPr>
              <a:t>Sweet</a:t>
            </a:r>
            <a:r>
              <a:rPr lang="en-US" sz="4200" b="1" i="0" dirty="0">
                <a:solidFill>
                  <a:srgbClr val="C00000"/>
                </a:solidFill>
                <a:effectLst/>
                <a:latin typeface="Times New Roman" panose="02020603050405020304" pitchFamily="18" charset="0"/>
                <a:cs typeface="Times New Roman" panose="02020603050405020304" pitchFamily="18" charset="0"/>
              </a:rPr>
              <a:t> </a:t>
            </a:r>
            <a:r>
              <a:rPr lang="en-US" sz="4200" b="1" i="0" dirty="0">
                <a:solidFill>
                  <a:srgbClr val="D71920"/>
                </a:solidFill>
                <a:effectLst/>
                <a:latin typeface="Times New Roman" panose="02020603050405020304" pitchFamily="18" charset="0"/>
                <a:cs typeface="Times New Roman" panose="02020603050405020304" pitchFamily="18" charset="0"/>
              </a:rPr>
              <a:t>- </a:t>
            </a:r>
            <a:r>
              <a:rPr lang="en-US" sz="4200" b="0" i="0" dirty="0">
                <a:effectLst/>
                <a:latin typeface="Times New Roman" panose="02020603050405020304" pitchFamily="18" charset="0"/>
                <a:cs typeface="Times New Roman" panose="02020603050405020304" pitchFamily="18" charset="0"/>
              </a:rPr>
              <a:t>The sweet taste is due to the sugars (glucose, lactose, and artificial sweeteners) in food and drinks, and sometimes alcohols and amino acids.</a:t>
            </a:r>
          </a:p>
          <a:p>
            <a:pPr>
              <a:lnSpc>
                <a:spcPct val="120000"/>
              </a:lnSpc>
              <a:spcBef>
                <a:spcPts val="0"/>
              </a:spcBef>
            </a:pPr>
            <a:endParaRPr lang="en-US" sz="4200" b="0" i="0" dirty="0">
              <a:effectLst/>
              <a:latin typeface="Times New Roman" panose="02020603050405020304" pitchFamily="18" charset="0"/>
              <a:cs typeface="Times New Roman" panose="02020603050405020304" pitchFamily="18" charset="0"/>
            </a:endParaRPr>
          </a:p>
          <a:p>
            <a:pPr>
              <a:lnSpc>
                <a:spcPct val="120000"/>
              </a:lnSpc>
              <a:spcBef>
                <a:spcPts val="0"/>
              </a:spcBef>
            </a:pPr>
            <a:r>
              <a:rPr lang="en-US" sz="4200" i="0" dirty="0">
                <a:solidFill>
                  <a:srgbClr val="C00000"/>
                </a:solidFill>
                <a:effectLst/>
                <a:latin typeface="Times New Roman" panose="02020603050405020304" pitchFamily="18" charset="0"/>
                <a:cs typeface="Times New Roman" panose="02020603050405020304" pitchFamily="18" charset="0"/>
              </a:rPr>
              <a:t>Taste #2: </a:t>
            </a:r>
            <a:r>
              <a:rPr lang="en-US" sz="5100" b="1" i="0" dirty="0">
                <a:solidFill>
                  <a:srgbClr val="C00000"/>
                </a:solidFill>
                <a:effectLst/>
                <a:latin typeface="Times New Roman" panose="02020603050405020304" pitchFamily="18" charset="0"/>
                <a:cs typeface="Times New Roman" panose="02020603050405020304" pitchFamily="18" charset="0"/>
              </a:rPr>
              <a:t>Sour</a:t>
            </a:r>
            <a:r>
              <a:rPr lang="en-US" sz="4200" b="1" i="0" dirty="0">
                <a:solidFill>
                  <a:srgbClr val="C00000"/>
                </a:solidFill>
                <a:effectLst/>
                <a:latin typeface="Times New Roman" panose="02020603050405020304" pitchFamily="18" charset="0"/>
                <a:cs typeface="Times New Roman" panose="02020603050405020304" pitchFamily="18" charset="0"/>
              </a:rPr>
              <a:t> </a:t>
            </a:r>
            <a:r>
              <a:rPr lang="en-US" sz="4200" b="1" i="0" dirty="0">
                <a:effectLst/>
                <a:latin typeface="Times New Roman" panose="02020603050405020304" pitchFamily="18" charset="0"/>
                <a:cs typeface="Times New Roman" panose="02020603050405020304" pitchFamily="18" charset="0"/>
              </a:rPr>
              <a:t>- </a:t>
            </a:r>
            <a:r>
              <a:rPr lang="en-US" sz="4200" b="0" i="0" dirty="0">
                <a:effectLst/>
                <a:latin typeface="Times New Roman" panose="02020603050405020304" pitchFamily="18" charset="0"/>
                <a:cs typeface="Times New Roman" panose="02020603050405020304" pitchFamily="18" charset="0"/>
              </a:rPr>
              <a:t>When food tastes sour, there’s a high chance it has acids in it. Think citrus fruits or vinegar, and the resulting flinch when you have either in large quantities. </a:t>
            </a:r>
          </a:p>
          <a:p>
            <a:pPr marL="0" indent="0">
              <a:lnSpc>
                <a:spcPct val="120000"/>
              </a:lnSpc>
              <a:spcBef>
                <a:spcPts val="0"/>
              </a:spcBef>
              <a:buNone/>
            </a:pPr>
            <a:endParaRPr lang="en-US" sz="4200" b="0" i="0" dirty="0">
              <a:effectLst/>
              <a:latin typeface="Times New Roman" panose="02020603050405020304" pitchFamily="18" charset="0"/>
              <a:cs typeface="Times New Roman" panose="02020603050405020304" pitchFamily="18" charset="0"/>
            </a:endParaRPr>
          </a:p>
          <a:p>
            <a:pPr>
              <a:lnSpc>
                <a:spcPct val="120000"/>
              </a:lnSpc>
              <a:spcBef>
                <a:spcPts val="0"/>
              </a:spcBef>
            </a:pPr>
            <a:r>
              <a:rPr lang="en-US" sz="4200" i="0" dirty="0">
                <a:solidFill>
                  <a:srgbClr val="C00000"/>
                </a:solidFill>
                <a:effectLst/>
                <a:latin typeface="Times New Roman" panose="02020603050405020304" pitchFamily="18" charset="0"/>
                <a:cs typeface="Times New Roman" panose="02020603050405020304" pitchFamily="18" charset="0"/>
              </a:rPr>
              <a:t>Taste #3: </a:t>
            </a:r>
            <a:r>
              <a:rPr lang="en-US" sz="5100" b="1" i="0" dirty="0">
                <a:solidFill>
                  <a:srgbClr val="C00000"/>
                </a:solidFill>
                <a:effectLst/>
                <a:latin typeface="Times New Roman" panose="02020603050405020304" pitchFamily="18" charset="0"/>
                <a:cs typeface="Times New Roman" panose="02020603050405020304" pitchFamily="18" charset="0"/>
              </a:rPr>
              <a:t>Salty</a:t>
            </a:r>
            <a:r>
              <a:rPr lang="en-US" sz="4200" b="1" i="0" dirty="0">
                <a:solidFill>
                  <a:srgbClr val="C00000"/>
                </a:solidFill>
                <a:effectLst/>
                <a:latin typeface="Times New Roman" panose="02020603050405020304" pitchFamily="18" charset="0"/>
                <a:cs typeface="Times New Roman" panose="02020603050405020304" pitchFamily="18" charset="0"/>
              </a:rPr>
              <a:t> </a:t>
            </a:r>
            <a:r>
              <a:rPr lang="en-US" sz="4200" b="1" i="0" dirty="0">
                <a:effectLst/>
                <a:latin typeface="Times New Roman" panose="02020603050405020304" pitchFamily="18" charset="0"/>
                <a:cs typeface="Times New Roman" panose="02020603050405020304" pitchFamily="18" charset="0"/>
              </a:rPr>
              <a:t>- </a:t>
            </a:r>
            <a:r>
              <a:rPr lang="en-US" sz="4200" b="0" i="0" dirty="0">
                <a:effectLst/>
                <a:latin typeface="Times New Roman" panose="02020603050405020304" pitchFamily="18" charset="0"/>
                <a:cs typeface="Times New Roman" panose="02020603050405020304" pitchFamily="18" charset="0"/>
              </a:rPr>
              <a:t>Sodium chloride leaves a distinctive taste on people’s palates, and just like sourness, this particular taste is enjoyable in tiny quantities.</a:t>
            </a:r>
          </a:p>
          <a:p>
            <a:pPr>
              <a:lnSpc>
                <a:spcPct val="120000"/>
              </a:lnSpc>
              <a:spcBef>
                <a:spcPts val="0"/>
              </a:spcBef>
            </a:pPr>
            <a:endParaRPr lang="en-US" sz="4200" b="0" i="0" dirty="0">
              <a:effectLst/>
              <a:latin typeface="Times New Roman" panose="02020603050405020304" pitchFamily="18" charset="0"/>
              <a:cs typeface="Times New Roman" panose="02020603050405020304" pitchFamily="18" charset="0"/>
            </a:endParaRPr>
          </a:p>
          <a:p>
            <a:pPr>
              <a:lnSpc>
                <a:spcPct val="120000"/>
              </a:lnSpc>
              <a:spcBef>
                <a:spcPts val="0"/>
              </a:spcBef>
            </a:pPr>
            <a:r>
              <a:rPr lang="en-US" sz="4200" i="1" dirty="0">
                <a:solidFill>
                  <a:srgbClr val="C00000"/>
                </a:solidFill>
                <a:latin typeface="Times New Roman" panose="02020603050405020304" pitchFamily="18" charset="0"/>
                <a:cs typeface="Times New Roman" panose="02020603050405020304" pitchFamily="18" charset="0"/>
              </a:rPr>
              <a:t>Taste #4: </a:t>
            </a:r>
            <a:r>
              <a:rPr lang="en-US" sz="5100" b="1" dirty="0">
                <a:solidFill>
                  <a:srgbClr val="C00000"/>
                </a:solidFill>
                <a:latin typeface="Times New Roman" panose="02020603050405020304" pitchFamily="18" charset="0"/>
                <a:cs typeface="Times New Roman" panose="02020603050405020304" pitchFamily="18" charset="0"/>
              </a:rPr>
              <a:t>Bitter</a:t>
            </a:r>
            <a:r>
              <a:rPr lang="en-US" sz="4200" b="1" dirty="0">
                <a:solidFill>
                  <a:srgbClr val="C00000"/>
                </a:solidFill>
                <a:latin typeface="Times New Roman" panose="02020603050405020304" pitchFamily="18" charset="0"/>
                <a:cs typeface="Times New Roman" panose="02020603050405020304" pitchFamily="18" charset="0"/>
              </a:rPr>
              <a:t> </a:t>
            </a:r>
            <a:r>
              <a:rPr lang="en-US" sz="4200" b="1" dirty="0">
                <a:latin typeface="Times New Roman" panose="02020603050405020304" pitchFamily="18" charset="0"/>
                <a:cs typeface="Times New Roman" panose="02020603050405020304" pitchFamily="18" charset="0"/>
              </a:rPr>
              <a:t>- </a:t>
            </a:r>
            <a:r>
              <a:rPr lang="en-US" sz="4200" dirty="0">
                <a:latin typeface="Times New Roman" panose="02020603050405020304" pitchFamily="18" charset="0"/>
                <a:cs typeface="Times New Roman" panose="02020603050405020304" pitchFamily="18" charset="0"/>
              </a:rPr>
              <a:t>The bitter taste evokes a strong response. It is wholly unpleasant and caused by several substances—commonly described by the taste of coffee, leafy greens, and cocoa.</a:t>
            </a:r>
          </a:p>
          <a:p>
            <a:endParaRPr lang="en-US" sz="4200" b="0" i="0" dirty="0">
              <a:effectLst/>
              <a:latin typeface="Times New Roman" panose="02020603050405020304" pitchFamily="18" charset="0"/>
              <a:cs typeface="Times New Roman" panose="02020603050405020304" pitchFamily="18" charset="0"/>
            </a:endParaRPr>
          </a:p>
          <a:p>
            <a:pPr>
              <a:lnSpc>
                <a:spcPct val="120000"/>
              </a:lnSpc>
              <a:spcBef>
                <a:spcPts val="0"/>
              </a:spcBef>
            </a:pPr>
            <a:r>
              <a:rPr lang="en-US" sz="4200" dirty="0">
                <a:solidFill>
                  <a:srgbClr val="C00000"/>
                </a:solidFill>
                <a:latin typeface="Times New Roman" panose="02020603050405020304" pitchFamily="18" charset="0"/>
                <a:cs typeface="Times New Roman" panose="02020603050405020304" pitchFamily="18" charset="0"/>
              </a:rPr>
              <a:t>Taste #5: </a:t>
            </a:r>
            <a:r>
              <a:rPr lang="en-US" sz="5100" b="1" dirty="0">
                <a:solidFill>
                  <a:srgbClr val="C00000"/>
                </a:solidFill>
                <a:latin typeface="Times New Roman" panose="02020603050405020304" pitchFamily="18" charset="0"/>
                <a:cs typeface="Times New Roman" panose="02020603050405020304" pitchFamily="18" charset="0"/>
              </a:rPr>
              <a:t>Umami</a:t>
            </a:r>
            <a:r>
              <a:rPr lang="en-US" sz="4200" b="1" dirty="0">
                <a:solidFill>
                  <a:srgbClr val="C00000"/>
                </a:solidFill>
                <a:latin typeface="Times New Roman" panose="02020603050405020304" pitchFamily="18" charset="0"/>
                <a:cs typeface="Times New Roman" panose="02020603050405020304" pitchFamily="18" charset="0"/>
              </a:rPr>
              <a:t> </a:t>
            </a:r>
            <a:r>
              <a:rPr lang="en-US" sz="4200" b="1" dirty="0">
                <a:latin typeface="Times New Roman" panose="02020603050405020304" pitchFamily="18" charset="0"/>
                <a:cs typeface="Times New Roman" panose="02020603050405020304" pitchFamily="18" charset="0"/>
              </a:rPr>
              <a:t>- </a:t>
            </a:r>
            <a:r>
              <a:rPr lang="en-US" sz="4200" dirty="0">
                <a:latin typeface="Times New Roman" panose="02020603050405020304" pitchFamily="18" charset="0"/>
                <a:cs typeface="Times New Roman" panose="02020603050405020304" pitchFamily="18" charset="0"/>
              </a:rPr>
              <a:t>Taste of glutamate, known as ‘</a:t>
            </a:r>
            <a:r>
              <a:rPr lang="en-US" sz="4200" b="1" i="1" dirty="0">
                <a:latin typeface="Times New Roman" panose="02020603050405020304" pitchFamily="18" charset="0"/>
                <a:cs typeface="Times New Roman" panose="02020603050405020304" pitchFamily="18" charset="0"/>
              </a:rPr>
              <a:t>umami’</a:t>
            </a:r>
            <a:r>
              <a:rPr lang="en-US" sz="4200" dirty="0">
                <a:latin typeface="Times New Roman" panose="02020603050405020304" pitchFamily="18" charset="0"/>
                <a:cs typeface="Times New Roman" panose="02020603050405020304" pitchFamily="18" charset="0"/>
              </a:rPr>
              <a:t>, this taste is linked to protein. It can’t be described by any of the other four tastes. Umami is sensed in food like mushrooms, meat, and tomatoes, often defining Eastern cuisine thought the use of MSG (monosodium glutamate).</a:t>
            </a:r>
            <a:endParaRPr lang="en-US" sz="4200" b="1" dirty="0">
              <a:latin typeface="Times New Roman" panose="02020603050405020304" pitchFamily="18" charset="0"/>
              <a:cs typeface="Times New Roman" panose="02020603050405020304" pitchFamily="18" charset="0"/>
            </a:endParaRPr>
          </a:p>
          <a:p>
            <a:pPr marL="0" indent="0">
              <a:lnSpc>
                <a:spcPct val="120000"/>
              </a:lnSpc>
              <a:spcBef>
                <a:spcPts val="0"/>
              </a:spcBef>
              <a:buNone/>
            </a:pPr>
            <a:endParaRPr lang="en-US" sz="3800" b="0" i="0" dirty="0">
              <a:effectLst/>
              <a:latin typeface="Times New Roman" panose="02020603050405020304" pitchFamily="18" charset="0"/>
              <a:cs typeface="Times New Roman" panose="02020603050405020304" pitchFamily="18" charset="0"/>
            </a:endParaRPr>
          </a:p>
          <a:p>
            <a:endParaRPr lang="en-US" b="1" i="0" dirty="0">
              <a:effectLst/>
              <a:latin typeface="Figtree"/>
            </a:endParaRPr>
          </a:p>
          <a:p>
            <a:endParaRPr lang="en-US" b="1" i="0" dirty="0">
              <a:solidFill>
                <a:srgbClr val="D71920"/>
              </a:solidFill>
              <a:effectLst/>
              <a:latin typeface="Figtree"/>
            </a:endParaRPr>
          </a:p>
          <a:p>
            <a:endParaRPr lang="en-US" b="1" i="0" dirty="0">
              <a:solidFill>
                <a:srgbClr val="D71920"/>
              </a:solidFill>
              <a:effectLst/>
              <a:latin typeface="Figtree"/>
            </a:endParaRPr>
          </a:p>
          <a:p>
            <a:endParaRPr lang="en-US" b="1" i="0" dirty="0">
              <a:solidFill>
                <a:srgbClr val="D71920"/>
              </a:solidFill>
              <a:effectLst/>
              <a:latin typeface="Figtree"/>
            </a:endParaRPr>
          </a:p>
          <a:p>
            <a:endParaRPr lang="en-US" dirty="0"/>
          </a:p>
        </p:txBody>
      </p:sp>
      <p:sp>
        <p:nvSpPr>
          <p:cNvPr id="6" name="Title 1">
            <a:extLst>
              <a:ext uri="{FF2B5EF4-FFF2-40B4-BE49-F238E27FC236}">
                <a16:creationId xmlns:a16="http://schemas.microsoft.com/office/drawing/2014/main" id="{03014732-403F-41B6-B18F-73332B36C0A0}"/>
              </a:ext>
            </a:extLst>
          </p:cNvPr>
          <p:cNvSpPr>
            <a:spLocks noGrp="1"/>
          </p:cNvSpPr>
          <p:nvPr>
            <p:ph type="title"/>
          </p:nvPr>
        </p:nvSpPr>
        <p:spPr>
          <a:xfrm>
            <a:off x="257144" y="231775"/>
            <a:ext cx="8281987" cy="711282"/>
          </a:xfrm>
        </p:spPr>
        <p:txBody>
          <a:bodyPr>
            <a:normAutofit fontScale="90000"/>
          </a:bodyPr>
          <a:lstStyle/>
          <a:p>
            <a:r>
              <a:rPr lang="en-US" b="1" dirty="0">
                <a:latin typeface="Times New Roman" panose="02020603050405020304" pitchFamily="18" charset="0"/>
                <a:cs typeface="Times New Roman" panose="02020603050405020304" pitchFamily="18" charset="0"/>
              </a:rPr>
              <a:t>How We Taste </a:t>
            </a:r>
            <a:endParaRPr lang="en-US" dirty="0"/>
          </a:p>
        </p:txBody>
      </p:sp>
    </p:spTree>
    <p:extLst>
      <p:ext uri="{BB962C8B-B14F-4D97-AF65-F5344CB8AC3E}">
        <p14:creationId xmlns:p14="http://schemas.microsoft.com/office/powerpoint/2010/main" val="297776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3</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789392" y="232449"/>
            <a:ext cx="8281035" cy="889914"/>
          </a:xfrm>
        </p:spPr>
        <p:txBody>
          <a:bodyPr>
            <a:normAutofit/>
          </a:bodyPr>
          <a:lstStyle/>
          <a:p>
            <a:pPr>
              <a:defRPr/>
            </a:pPr>
            <a:r>
              <a:rPr lang="en-US" sz="4000" b="1" dirty="0">
                <a:solidFill>
                  <a:srgbClr val="C00000"/>
                </a:solidFill>
                <a:latin typeface="Times New Roman" panose="02020603050405020304" pitchFamily="18" charset="0"/>
                <a:cs typeface="Times New Roman" panose="02020603050405020304" pitchFamily="18" charset="0"/>
              </a:rPr>
              <a:t>How We Taste </a:t>
            </a:r>
            <a:endParaRPr lang="en-US" altLang="en-US" sz="4000" dirty="0">
              <a:solidFill>
                <a:srgbClr val="C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7B7C2A-A14C-429A-A203-6926B0757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635" y="979488"/>
            <a:ext cx="6218056" cy="54459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38856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4</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514350" y="132437"/>
            <a:ext cx="8556077" cy="1413934"/>
          </a:xfrm>
        </p:spPr>
        <p:txBody>
          <a:bodyPr>
            <a:normAutofit/>
          </a:bodyPr>
          <a:lstStyle/>
          <a:p>
            <a:pPr>
              <a:defRPr/>
            </a:pPr>
            <a:r>
              <a:rPr lang="en-US" sz="4000" b="1" dirty="0">
                <a:solidFill>
                  <a:srgbClr val="C00000"/>
                </a:solidFill>
                <a:latin typeface="Times New Roman" panose="02020603050405020304" pitchFamily="18" charset="0"/>
                <a:cs typeface="Times New Roman" panose="02020603050405020304" pitchFamily="18" charset="0"/>
              </a:rPr>
              <a:t>Facts: </a:t>
            </a:r>
            <a:r>
              <a:rPr lang="en-US" sz="4000" b="1" i="1" dirty="0">
                <a:solidFill>
                  <a:srgbClr val="C00000"/>
                </a:solidFill>
                <a:latin typeface="Times New Roman" panose="02020603050405020304" pitchFamily="18" charset="0"/>
                <a:cs typeface="Times New Roman" panose="02020603050405020304" pitchFamily="18" charset="0"/>
              </a:rPr>
              <a:t>UMAMI</a:t>
            </a:r>
            <a:r>
              <a:rPr lang="en-US" sz="4000" b="1" dirty="0">
                <a:solidFill>
                  <a:srgbClr val="C00000"/>
                </a:solidFill>
                <a:latin typeface="Times New Roman" panose="02020603050405020304" pitchFamily="18" charset="0"/>
                <a:cs typeface="Times New Roman" panose="02020603050405020304" pitchFamily="18" charset="0"/>
              </a:rPr>
              <a:t> in Western Culture </a:t>
            </a:r>
            <a:endParaRPr lang="en-US" altLang="en-US" sz="4000" dirty="0">
              <a:solidFill>
                <a:srgbClr val="C00000"/>
              </a:solidFill>
              <a:latin typeface="Times New Roman" panose="02020603050405020304" pitchFamily="18" charset="0"/>
              <a:cs typeface="Times New Roman" panose="02020603050405020304" pitchFamily="18" charset="0"/>
            </a:endParaRPr>
          </a:p>
        </p:txBody>
      </p:sp>
      <p:sp>
        <p:nvSpPr>
          <p:cNvPr id="62467" name="Rectangle 3"/>
          <p:cNvSpPr>
            <a:spLocks noGrp="1" noRot="1" noChangeArrowheads="1"/>
          </p:cNvSpPr>
          <p:nvPr>
            <p:ph type="body" idx="1"/>
          </p:nvPr>
        </p:nvSpPr>
        <p:spPr>
          <a:xfrm>
            <a:off x="666692" y="1231661"/>
            <a:ext cx="8526434" cy="5477717"/>
          </a:xfrm>
        </p:spPr>
        <p:txBody>
          <a:bodyPr>
            <a:normAutofit/>
          </a:bodyPr>
          <a:lstStyle/>
          <a:p>
            <a:pPr>
              <a:lnSpc>
                <a:spcPct val="100000"/>
              </a:lnSpc>
              <a:spcBef>
                <a:spcPts val="0"/>
              </a:spcBef>
            </a:pPr>
            <a:r>
              <a:rPr lang="en-US" sz="2800" b="1" dirty="0">
                <a:latin typeface="Times New Roman" panose="02020603050405020304" pitchFamily="18" charset="0"/>
                <a:cs typeface="Times New Roman" panose="02020603050405020304" pitchFamily="18" charset="0"/>
              </a:rPr>
              <a:t>Umami</a:t>
            </a:r>
            <a:r>
              <a:rPr lang="en-US" sz="2800" dirty="0">
                <a:latin typeface="Times New Roman" panose="02020603050405020304" pitchFamily="18" charset="0"/>
                <a:cs typeface="Times New Roman" panose="02020603050405020304" pitchFamily="18" charset="0"/>
              </a:rPr>
              <a:t>, often described as a savory or meaty taste, was first identified by Japanese chemist </a:t>
            </a:r>
            <a:r>
              <a:rPr lang="en-US" sz="2800" i="1" dirty="0" err="1">
                <a:latin typeface="Times New Roman" panose="02020603050405020304" pitchFamily="18" charset="0"/>
                <a:cs typeface="Times New Roman" panose="02020603050405020304" pitchFamily="18" charset="0"/>
              </a:rPr>
              <a:t>Kikunae</a:t>
            </a:r>
            <a:r>
              <a:rPr lang="en-US" sz="2800" i="1" dirty="0">
                <a:latin typeface="Times New Roman" panose="02020603050405020304" pitchFamily="18" charset="0"/>
                <a:cs typeface="Times New Roman" panose="02020603050405020304" pitchFamily="18" charset="0"/>
              </a:rPr>
              <a:t> Ikeda </a:t>
            </a:r>
            <a:r>
              <a:rPr lang="en-US" sz="2800" dirty="0">
                <a:latin typeface="Times New Roman" panose="02020603050405020304" pitchFamily="18" charset="0"/>
                <a:cs typeface="Times New Roman" panose="02020603050405020304" pitchFamily="18" charset="0"/>
              </a:rPr>
              <a:t>in 1908.</a:t>
            </a:r>
          </a:p>
          <a:p>
            <a:pPr>
              <a:lnSpc>
                <a:spcPct val="100000"/>
              </a:lnSpc>
              <a:spcBef>
                <a:spcPts val="0"/>
              </a:spcBef>
            </a:pPr>
            <a:endParaRPr lang="en-US" sz="2800" dirty="0">
              <a:latin typeface="Times New Roman" panose="02020603050405020304" pitchFamily="18" charset="0"/>
              <a:cs typeface="Times New Roman" panose="02020603050405020304" pitchFamily="18" charset="0"/>
            </a:endParaRPr>
          </a:p>
          <a:p>
            <a:pPr>
              <a:lnSpc>
                <a:spcPct val="100000"/>
              </a:lnSpc>
              <a:spcBef>
                <a:spcPts val="0"/>
              </a:spcBef>
            </a:pPr>
            <a:r>
              <a:rPr lang="en-US" sz="2800" dirty="0">
                <a:latin typeface="Times New Roman" panose="02020603050405020304" pitchFamily="18" charset="0"/>
                <a:cs typeface="Times New Roman" panose="02020603050405020304" pitchFamily="18" charset="0"/>
              </a:rPr>
              <a:t>Was not widely recognized by Western scientific community as a fifth basic taste until the late 1980s, when specific taste receptors for glutamate were identified on the human tongue.</a:t>
            </a:r>
          </a:p>
          <a:p>
            <a:pPr>
              <a:lnSpc>
                <a:spcPct val="100000"/>
              </a:lnSpc>
              <a:spcBef>
                <a:spcPts val="0"/>
              </a:spcBef>
            </a:pPr>
            <a:endParaRPr lang="en-US" sz="2800" dirty="0">
              <a:latin typeface="Times New Roman" panose="02020603050405020304" pitchFamily="18" charset="0"/>
              <a:cs typeface="Times New Roman" panose="02020603050405020304" pitchFamily="18" charset="0"/>
            </a:endParaRPr>
          </a:p>
          <a:p>
            <a:pPr>
              <a:lnSpc>
                <a:spcPct val="100000"/>
              </a:lnSpc>
              <a:spcBef>
                <a:spcPts val="0"/>
              </a:spcBef>
            </a:pPr>
            <a:r>
              <a:rPr lang="en-US" sz="2800" i="1" dirty="0">
                <a:latin typeface="Times New Roman" panose="02020603050405020304" pitchFamily="18" charset="0"/>
                <a:cs typeface="Times New Roman" panose="02020603050405020304" pitchFamily="18" charset="0"/>
              </a:rPr>
              <a:t>Umami</a:t>
            </a:r>
            <a:r>
              <a:rPr lang="en-US" sz="2800" dirty="0">
                <a:latin typeface="Times New Roman" panose="02020603050405020304" pitchFamily="18" charset="0"/>
                <a:cs typeface="Times New Roman" panose="02020603050405020304" pitchFamily="18" charset="0"/>
              </a:rPr>
              <a:t> serves an important physiological role by signaling the presence of proteins in food, an essential nutrient for survival</a:t>
            </a:r>
          </a:p>
          <a:p>
            <a:pPr marL="0" indent="0">
              <a:lnSpc>
                <a:spcPct val="110000"/>
              </a:lnSpc>
              <a:spcBef>
                <a:spcPts val="0"/>
              </a:spcBef>
              <a:buNone/>
              <a:defRPr/>
            </a:pPr>
            <a:endParaRPr lang="en-US" alt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63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2" end="2"/>
                                            </p:txEl>
                                          </p:spTgt>
                                        </p:tgtEl>
                                        <p:attrNameLst>
                                          <p:attrName>style.visibility</p:attrName>
                                        </p:attrNameLst>
                                      </p:cBhvr>
                                      <p:to>
                                        <p:strVal val="visible"/>
                                      </p:to>
                                    </p:set>
                                    <p:anim calcmode="lin" valueType="num">
                                      <p:cBhvr additive="base">
                                        <p:cTn id="13"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7">
                                            <p:txEl>
                                              <p:pRg st="4" end="4"/>
                                            </p:txEl>
                                          </p:spTgt>
                                        </p:tgtEl>
                                        <p:attrNameLst>
                                          <p:attrName>style.visibility</p:attrName>
                                        </p:attrNameLst>
                                      </p:cBhvr>
                                      <p:to>
                                        <p:strVal val="visible"/>
                                      </p:to>
                                    </p:set>
                                    <p:anim calcmode="lin" valueType="num">
                                      <p:cBhvr additive="base">
                                        <p:cTn id="19" dur="5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5</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1570105" y="540820"/>
            <a:ext cx="7013078" cy="562516"/>
          </a:xfrm>
        </p:spPr>
        <p:txBody>
          <a:bodyPr>
            <a:normAutofit fontScale="90000"/>
          </a:bodyPr>
          <a:lstStyle/>
          <a:p>
            <a:pPr>
              <a:defRPr/>
            </a:pPr>
            <a:r>
              <a:rPr lang="en-US" sz="4000" b="1" dirty="0">
                <a:latin typeface="Bradley Hand ITC" panose="03070402050302030203" pitchFamily="66" charset="0"/>
                <a:cs typeface="Times New Roman" panose="02020603050405020304" pitchFamily="18" charset="0"/>
              </a:rPr>
              <a:t>SPICY Is “NOT” one of the 5 Tastes</a:t>
            </a:r>
            <a:br>
              <a:rPr lang="en-US" sz="4000" b="1" dirty="0">
                <a:latin typeface="Bradley Hand ITC" panose="03070402050302030203" pitchFamily="66" charset="0"/>
                <a:cs typeface="Times New Roman" panose="02020603050405020304" pitchFamily="18" charset="0"/>
              </a:rPr>
            </a:br>
            <a:endParaRPr lang="en-US" altLang="en-US" sz="4000" dirty="0">
              <a:solidFill>
                <a:srgbClr val="C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3338D2-F61E-4D58-A351-FBBDEACA8D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687" y="1103336"/>
            <a:ext cx="8335915" cy="52747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48288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6</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960465" y="372518"/>
            <a:ext cx="8281035" cy="369818"/>
          </a:xfrm>
        </p:spPr>
        <p:txBody>
          <a:bodyPr>
            <a:normAutofit fontScale="90000"/>
          </a:bodyPr>
          <a:lstStyle/>
          <a:p>
            <a:pPr>
              <a:defRPr/>
            </a:pPr>
            <a:r>
              <a:rPr lang="en-US" sz="4000" b="1" dirty="0">
                <a:latin typeface="Bradley Hand ITC" panose="03070402050302030203" pitchFamily="66" charset="0"/>
                <a:cs typeface="Times New Roman" panose="02020603050405020304" pitchFamily="18" charset="0"/>
              </a:rPr>
              <a:t>SPICY Is “NOT” one of the 5 Tastes</a:t>
            </a:r>
            <a:endParaRPr lang="en-US" altLang="en-US" sz="4000" dirty="0">
              <a:solidFill>
                <a:srgbClr val="C00000"/>
              </a:solidFill>
              <a:latin typeface="Times New Roman" panose="02020603050405020304" pitchFamily="18" charset="0"/>
              <a:cs typeface="Times New Roman" panose="02020603050405020304" pitchFamily="18" charset="0"/>
            </a:endParaRPr>
          </a:p>
        </p:txBody>
      </p:sp>
      <p:sp>
        <p:nvSpPr>
          <p:cNvPr id="62467" name="Rectangle 3"/>
          <p:cNvSpPr>
            <a:spLocks noGrp="1" noRot="1" noChangeArrowheads="1"/>
          </p:cNvSpPr>
          <p:nvPr>
            <p:ph type="body" idx="1"/>
          </p:nvPr>
        </p:nvSpPr>
        <p:spPr>
          <a:xfrm>
            <a:off x="430512" y="1013799"/>
            <a:ext cx="4670471" cy="3701076"/>
          </a:xfrm>
        </p:spPr>
        <p:txBody>
          <a:bodyPr>
            <a:normAutofit fontScale="92500" lnSpcReduction="20000"/>
          </a:bodyPr>
          <a:lstStyle/>
          <a:p>
            <a:pPr marL="342900" indent="-342900">
              <a:lnSpc>
                <a:spcPct val="120000"/>
              </a:lnSpc>
              <a:spcBef>
                <a:spcPts val="0"/>
              </a:spcBef>
            </a:pPr>
            <a:r>
              <a:rPr lang="en-US" sz="2800" b="1" i="1" dirty="0">
                <a:latin typeface="Times New Roman" panose="02020603050405020304" pitchFamily="18" charset="0"/>
                <a:cs typeface="Times New Roman" panose="02020603050405020304" pitchFamily="18" charset="0"/>
              </a:rPr>
              <a:t>Capsaicin</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the active component in chili peppers, doesn't activate taste buds. </a:t>
            </a:r>
          </a:p>
          <a:p>
            <a:pPr>
              <a:lnSpc>
                <a:spcPct val="120000"/>
              </a:lnSpc>
              <a:spcBef>
                <a:spcPts val="0"/>
              </a:spcBef>
            </a:pPr>
            <a:endParaRPr lang="en-US" sz="2800" dirty="0">
              <a:latin typeface="Times New Roman" panose="02020603050405020304" pitchFamily="18" charset="0"/>
              <a:cs typeface="Times New Roman" panose="02020603050405020304" pitchFamily="18" charset="0"/>
            </a:endParaRPr>
          </a:p>
          <a:p>
            <a:pPr marL="342900" indent="-342900">
              <a:lnSpc>
                <a:spcPct val="120000"/>
              </a:lnSpc>
              <a:spcBef>
                <a:spcPts val="0"/>
              </a:spcBef>
            </a:pPr>
            <a:r>
              <a:rPr lang="en-US" sz="2800" dirty="0">
                <a:latin typeface="Times New Roman" panose="02020603050405020304" pitchFamily="18" charset="0"/>
                <a:cs typeface="Times New Roman" panose="02020603050405020304" pitchFamily="18" charset="0"/>
              </a:rPr>
              <a:t>It binds to a specific receptor called TRPV1 (</a:t>
            </a:r>
            <a:r>
              <a:rPr lang="en-US" sz="2800" b="1" i="1" dirty="0">
                <a:latin typeface="Times New Roman" panose="02020603050405020304" pitchFamily="18" charset="0"/>
                <a:cs typeface="Times New Roman" panose="02020603050405020304" pitchFamily="18" charset="0"/>
              </a:rPr>
              <a:t>transient receptor potential </a:t>
            </a:r>
            <a:r>
              <a:rPr lang="en-US" sz="2800" b="1" i="1" dirty="0" err="1">
                <a:latin typeface="Times New Roman" panose="02020603050405020304" pitchFamily="18" charset="0"/>
                <a:cs typeface="Times New Roman" panose="02020603050405020304" pitchFamily="18" charset="0"/>
              </a:rPr>
              <a:t>vanilloid</a:t>
            </a:r>
            <a:r>
              <a:rPr lang="en-US" sz="2800" b="1" i="1" dirty="0">
                <a:latin typeface="Times New Roman" panose="02020603050405020304" pitchFamily="18" charset="0"/>
                <a:cs typeface="Times New Roman" panose="02020603050405020304" pitchFamily="18" charset="0"/>
              </a:rPr>
              <a:t> 1</a:t>
            </a:r>
            <a:r>
              <a:rPr lang="en-US" sz="2800" dirty="0">
                <a:latin typeface="Times New Roman" panose="02020603050405020304" pitchFamily="18" charset="0"/>
                <a:cs typeface="Times New Roman" panose="02020603050405020304" pitchFamily="18" charset="0"/>
              </a:rPr>
              <a:t>), which is primarily designed to detect heat and physical pain.</a:t>
            </a:r>
          </a:p>
          <a:p>
            <a:pPr>
              <a:lnSpc>
                <a:spcPct val="120000"/>
              </a:lnSpc>
              <a:spcBef>
                <a:spcPts val="0"/>
              </a:spcBef>
            </a:pPr>
            <a:endParaRPr lang="en-US" sz="2800" dirty="0">
              <a:latin typeface="Times New Roman" panose="02020603050405020304" pitchFamily="18" charset="0"/>
              <a:cs typeface="Times New Roman" panose="02020603050405020304" pitchFamily="18" charset="0"/>
            </a:endParaRPr>
          </a:p>
          <a:p>
            <a:pPr marL="0" indent="0">
              <a:lnSpc>
                <a:spcPct val="110000"/>
              </a:lnSpc>
              <a:spcBef>
                <a:spcPts val="0"/>
              </a:spcBef>
              <a:buNone/>
              <a:defRPr/>
            </a:pPr>
            <a:endParaRPr lang="en-US" altLang="en-US" sz="2800" dirty="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0DB9001-122A-4C6E-9E73-215724458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0983" y="1475461"/>
            <a:ext cx="4389792" cy="27777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extBox 1"/>
          <p:cNvSpPr txBox="1"/>
          <p:nvPr/>
        </p:nvSpPr>
        <p:spPr>
          <a:xfrm>
            <a:off x="430512" y="4837976"/>
            <a:ext cx="8485727" cy="1723549"/>
          </a:xfrm>
          <a:prstGeom prst="rect">
            <a:avLst/>
          </a:prstGeom>
          <a:noFill/>
        </p:spPr>
        <p:txBody>
          <a:bodyPr wrap="square" rtlCol="0">
            <a:spAutoFit/>
          </a:bodyPr>
          <a:lstStyle/>
          <a:p>
            <a:pPr marL="342900"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When capsaicin hits this receptor, typically on the tongue </a:t>
            </a:r>
          </a:p>
          <a:p>
            <a:r>
              <a:rPr lang="en-US" sz="2600" dirty="0">
                <a:latin typeface="Times New Roman" panose="02020603050405020304" pitchFamily="18" charset="0"/>
                <a:cs typeface="Times New Roman" panose="02020603050405020304" pitchFamily="18" charset="0"/>
              </a:rPr>
              <a:t>     or in the mouth, the brain interprets the signal as actual </a:t>
            </a:r>
          </a:p>
          <a:p>
            <a:r>
              <a:rPr lang="en-US" sz="2600" dirty="0">
                <a:latin typeface="Times New Roman" panose="02020603050405020304" pitchFamily="18" charset="0"/>
                <a:cs typeface="Times New Roman" panose="02020603050405020304" pitchFamily="18" charset="0"/>
              </a:rPr>
              <a:t>     burning even though no tissue damage occurs.</a:t>
            </a:r>
          </a:p>
          <a:p>
            <a:endParaRPr lang="en-US" sz="2800" dirty="0"/>
          </a:p>
        </p:txBody>
      </p:sp>
    </p:spTree>
    <p:extLst>
      <p:ext uri="{BB962C8B-B14F-4D97-AF65-F5344CB8AC3E}">
        <p14:creationId xmlns:p14="http://schemas.microsoft.com/office/powerpoint/2010/main" val="83174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2" end="2"/>
                                            </p:txEl>
                                          </p:spTgt>
                                        </p:tgtEl>
                                        <p:attrNameLst>
                                          <p:attrName>style.visibility</p:attrName>
                                        </p:attrNameLst>
                                      </p:cBhvr>
                                      <p:to>
                                        <p:strVal val="visible"/>
                                      </p:to>
                                    </p:set>
                                    <p:anim calcmode="lin" valueType="num">
                                      <p:cBhvr additive="base">
                                        <p:cTn id="13"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7</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768009" y="502490"/>
            <a:ext cx="8281035" cy="663290"/>
          </a:xfrm>
        </p:spPr>
        <p:txBody>
          <a:bodyPr>
            <a:normAutofit/>
          </a:bodyPr>
          <a:lstStyle/>
          <a:p>
            <a:pPr algn="ct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Do you Remember ? </a:t>
            </a:r>
          </a:p>
        </p:txBody>
      </p:sp>
      <p:sp>
        <p:nvSpPr>
          <p:cNvPr id="62467" name="Rectangle 3"/>
          <p:cNvSpPr>
            <a:spLocks noGrp="1" noRot="1" noChangeArrowheads="1"/>
          </p:cNvSpPr>
          <p:nvPr>
            <p:ph type="body" idx="1"/>
          </p:nvPr>
        </p:nvSpPr>
        <p:spPr>
          <a:xfrm>
            <a:off x="874762" y="983909"/>
            <a:ext cx="8110293" cy="3073398"/>
          </a:xfrm>
        </p:spPr>
        <p:txBody>
          <a:bodyPr>
            <a:normAutofit/>
          </a:bodyPr>
          <a:lstStyle/>
          <a:p>
            <a:pPr marL="0" indent="0">
              <a:lnSpc>
                <a:spcPct val="110000"/>
              </a:lnSpc>
              <a:spcBef>
                <a:spcPts val="0"/>
              </a:spcBef>
              <a:buNone/>
              <a:defRPr/>
            </a:pPr>
            <a:r>
              <a:rPr lang="en-US" sz="2000" dirty="0">
                <a:latin typeface="Times New Roman" panose="02020603050405020304" pitchFamily="18" charset="0"/>
                <a:cs typeface="Times New Roman" panose="02020603050405020304" pitchFamily="18" charset="0"/>
              </a:rPr>
              <a:t> </a:t>
            </a:r>
          </a:p>
          <a:p>
            <a:pPr marL="0" indent="0">
              <a:lnSpc>
                <a:spcPct val="110000"/>
              </a:lnSpc>
              <a:spcBef>
                <a:spcPts val="0"/>
              </a:spcBef>
              <a:buNone/>
              <a:defRPr/>
            </a:pPr>
            <a:endParaRPr lang="en-US" altLang="en-US" sz="2000" dirty="0">
              <a:solidFill>
                <a:srgbClr val="00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230018" y="1647199"/>
            <a:ext cx="5439746" cy="3862718"/>
          </a:xfrm>
          <a:prstGeom prst="rect">
            <a:avLst/>
          </a:prstGeom>
        </p:spPr>
      </p:pic>
    </p:spTree>
    <p:extLst>
      <p:ext uri="{BB962C8B-B14F-4D97-AF65-F5344CB8AC3E}">
        <p14:creationId xmlns:p14="http://schemas.microsoft.com/office/powerpoint/2010/main" val="388005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4294967295"/>
          </p:nvPr>
        </p:nvSpPr>
        <p:spPr>
          <a:noFill/>
        </p:spPr>
        <p:txBody>
          <a:bodyPr/>
          <a:lstStyle>
            <a:lvl1pPr>
              <a:spcBef>
                <a:spcPct val="20000"/>
              </a:spcBef>
              <a:buClr>
                <a:schemeClr val="hlink"/>
              </a:buClr>
              <a:buSzPct val="80000"/>
              <a:buFont typeface="Arial" panose="020B0604020202020204" pitchFamily="34" charset="0"/>
              <a:buChar char="►"/>
              <a:defRPr sz="3360">
                <a:solidFill>
                  <a:schemeClr val="tx1"/>
                </a:solidFill>
                <a:latin typeface="Tahoma" panose="020B0604030504040204" pitchFamily="34" charset="0"/>
              </a:defRPr>
            </a:lvl1pPr>
            <a:lvl2pPr marL="780098" indent="-300038">
              <a:spcBef>
                <a:spcPct val="20000"/>
              </a:spcBef>
              <a:buClr>
                <a:schemeClr val="folHlink"/>
              </a:buClr>
              <a:buFont typeface="Wingdings" panose="05000000000000000000" pitchFamily="2" charset="2"/>
              <a:buChar char="§"/>
              <a:defRPr sz="2940">
                <a:solidFill>
                  <a:schemeClr val="tx1"/>
                </a:solidFill>
                <a:latin typeface="Tahoma" panose="020B0604030504040204" pitchFamily="34" charset="0"/>
              </a:defRPr>
            </a:lvl2pPr>
            <a:lvl3pPr marL="1200150" indent="-240030">
              <a:spcBef>
                <a:spcPct val="20000"/>
              </a:spcBef>
              <a:buClr>
                <a:schemeClr val="hlink"/>
              </a:buClr>
              <a:buSzPct val="80000"/>
              <a:buFont typeface="Arial" panose="020B0604020202020204" pitchFamily="34" charset="0"/>
              <a:buChar char="►"/>
              <a:defRPr sz="2520">
                <a:solidFill>
                  <a:schemeClr val="tx1"/>
                </a:solidFill>
                <a:latin typeface="Tahoma" panose="020B0604030504040204" pitchFamily="34" charset="0"/>
              </a:defRPr>
            </a:lvl3pPr>
            <a:lvl4pPr marL="1680210" indent="-240030">
              <a:spcBef>
                <a:spcPct val="20000"/>
              </a:spcBef>
              <a:buClr>
                <a:schemeClr val="folHlink"/>
              </a:buClr>
              <a:buFont typeface="Wingdings" panose="05000000000000000000" pitchFamily="2" charset="2"/>
              <a:buChar char="§"/>
              <a:defRPr sz="2100">
                <a:solidFill>
                  <a:schemeClr val="tx1"/>
                </a:solidFill>
                <a:latin typeface="Tahoma" panose="020B0604030504040204" pitchFamily="34" charset="0"/>
              </a:defRPr>
            </a:lvl4pPr>
            <a:lvl5pPr marL="2160270" indent="-240030">
              <a:spcBef>
                <a:spcPct val="20000"/>
              </a:spcBef>
              <a:buClr>
                <a:schemeClr val="hlink"/>
              </a:buClr>
              <a:buSzPct val="80000"/>
              <a:buFont typeface="Arial" panose="020B0604020202020204" pitchFamily="34" charset="0"/>
              <a:buChar char="►"/>
              <a:defRPr sz="2100">
                <a:solidFill>
                  <a:schemeClr val="tx1"/>
                </a:solidFill>
                <a:latin typeface="Tahoma" panose="020B0604030504040204" pitchFamily="34" charset="0"/>
              </a:defRPr>
            </a:lvl5pPr>
            <a:lvl6pPr marL="264033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6pPr>
            <a:lvl7pPr marL="312039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7pPr>
            <a:lvl8pPr marL="360045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8pPr>
            <a:lvl9pPr marL="4080510" indent="-240030" eaLnBrk="0" fontAlgn="base" hangingPunct="0">
              <a:spcBef>
                <a:spcPct val="20000"/>
              </a:spcBef>
              <a:spcAft>
                <a:spcPct val="0"/>
              </a:spcAft>
              <a:buClr>
                <a:schemeClr val="hlink"/>
              </a:buClr>
              <a:buSzPct val="80000"/>
              <a:buFont typeface="Arial" panose="020B0604020202020204" pitchFamily="34" charset="0"/>
              <a:buChar char="►"/>
              <a:defRPr sz="2100">
                <a:solidFill>
                  <a:schemeClr val="tx1"/>
                </a:solidFill>
                <a:latin typeface="Tahoma" panose="020B0604030504040204" pitchFamily="34" charset="0"/>
              </a:defRPr>
            </a:lvl9pPr>
          </a:lstStyle>
          <a:p>
            <a:pPr>
              <a:spcBef>
                <a:spcPct val="0"/>
              </a:spcBef>
              <a:buClrTx/>
              <a:buSzTx/>
              <a:buFontTx/>
              <a:buNone/>
            </a:pPr>
            <a:fld id="{3D364D71-A74C-4F3B-8AB3-5F96C7D769CB}" type="slidenum">
              <a:rPr lang="en-US" altLang="en-US" sz="1050">
                <a:latin typeface="Arial" panose="020B0604020202020204" pitchFamily="34" charset="0"/>
              </a:rPr>
              <a:pPr>
                <a:spcBef>
                  <a:spcPct val="0"/>
                </a:spcBef>
                <a:buClrTx/>
                <a:buSzTx/>
                <a:buFontTx/>
                <a:buNone/>
              </a:pPr>
              <a:t>8</a:t>
            </a:fld>
            <a:endParaRPr lang="en-US" altLang="en-US" sz="1050">
              <a:latin typeface="Arial" panose="020B0604020202020204" pitchFamily="34" charset="0"/>
            </a:endParaRPr>
          </a:p>
        </p:txBody>
      </p:sp>
      <p:sp>
        <p:nvSpPr>
          <p:cNvPr id="62466" name="Rectangle 2"/>
          <p:cNvSpPr>
            <a:spLocks noGrp="1" noRot="1" noChangeArrowheads="1"/>
          </p:cNvSpPr>
          <p:nvPr>
            <p:ph type="title"/>
          </p:nvPr>
        </p:nvSpPr>
        <p:spPr>
          <a:xfrm>
            <a:off x="789392" y="232449"/>
            <a:ext cx="8281035" cy="663290"/>
          </a:xfrm>
        </p:spPr>
        <p:txBody>
          <a:bodyPr>
            <a:normAutofit/>
          </a:bodyPr>
          <a:lstStyle/>
          <a:p>
            <a:pPr algn="ctr" eaLnBrk="1" hangingPunct="1">
              <a:defRPr/>
            </a:pPr>
            <a:r>
              <a:rPr lang="en-US" altLang="en-US" sz="3200" dirty="0">
                <a:solidFill>
                  <a:srgbClr val="C00000"/>
                </a:solidFill>
                <a:latin typeface="Times New Roman" panose="02020603050405020304" pitchFamily="18" charset="0"/>
                <a:cs typeface="Times New Roman" panose="02020603050405020304" pitchFamily="18" charset="0"/>
              </a:rPr>
              <a:t>References  </a:t>
            </a:r>
          </a:p>
        </p:txBody>
      </p:sp>
      <p:sp>
        <p:nvSpPr>
          <p:cNvPr id="62467" name="Rectangle 3"/>
          <p:cNvSpPr>
            <a:spLocks noGrp="1" noRot="1" noChangeArrowheads="1"/>
          </p:cNvSpPr>
          <p:nvPr>
            <p:ph type="body" idx="1"/>
          </p:nvPr>
        </p:nvSpPr>
        <p:spPr>
          <a:xfrm>
            <a:off x="874762" y="983909"/>
            <a:ext cx="8110293" cy="3073398"/>
          </a:xfrm>
        </p:spPr>
        <p:txBody>
          <a:bodyPr>
            <a:normAutofit/>
          </a:bodyPr>
          <a:lstStyle/>
          <a:p>
            <a:pPr marL="0" indent="0">
              <a:lnSpc>
                <a:spcPct val="110000"/>
              </a:lnSpc>
              <a:spcBef>
                <a:spcPts val="0"/>
              </a:spcBef>
              <a:buNone/>
              <a:defRPr/>
            </a:pPr>
            <a:r>
              <a:rPr lang="en-US" sz="2000" i="1" dirty="0">
                <a:latin typeface="Times New Roman" panose="02020603050405020304" pitchFamily="18" charset="0"/>
                <a:cs typeface="Times New Roman" panose="02020603050405020304" pitchFamily="18" charset="0"/>
              </a:rPr>
              <a:t>Accounting for taste</a:t>
            </a:r>
            <a:r>
              <a:rPr lang="en-US" sz="2000" dirty="0">
                <a:latin typeface="Times New Roman" panose="02020603050405020304" pitchFamily="18" charset="0"/>
                <a:cs typeface="Times New Roman" panose="02020603050405020304" pitchFamily="18" charset="0"/>
              </a:rPr>
              <a:t>. Science History Institute. (2023, November 14).  </a:t>
            </a:r>
          </a:p>
          <a:p>
            <a:pPr marL="0" indent="0">
              <a:lnSpc>
                <a:spcPct val="110000"/>
              </a:lnSpc>
              <a:spcBef>
                <a:spcPts val="0"/>
              </a:spcBef>
              <a:buNone/>
              <a:defRPr/>
            </a:pP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2"/>
              </a:rPr>
              <a:t>https://www.sciencehistory.org/stories/disappearingpod/accounting-for-</a:t>
            </a:r>
            <a:r>
              <a:rPr lang="en-US" sz="2000" dirty="0">
                <a:latin typeface="Times New Roman" panose="02020603050405020304" pitchFamily="18" charset="0"/>
                <a:cs typeface="Times New Roman" panose="02020603050405020304" pitchFamily="18" charset="0"/>
              </a:rPr>
              <a:t>     </a:t>
            </a:r>
          </a:p>
          <a:p>
            <a:pPr marL="0" indent="0">
              <a:lnSpc>
                <a:spcPct val="110000"/>
              </a:lnSpc>
              <a:spcBef>
                <a:spcPts val="0"/>
              </a:spcBef>
              <a:buNone/>
              <a:defRPr/>
            </a:pPr>
            <a:endParaRPr lang="en-US" sz="2000" dirty="0"/>
          </a:p>
          <a:p>
            <a:pPr marL="0" indent="0">
              <a:lnSpc>
                <a:spcPct val="110000"/>
              </a:lnSpc>
              <a:spcBef>
                <a:spcPts val="0"/>
              </a:spcBef>
              <a:buNone/>
              <a:defRPr/>
            </a:pPr>
            <a:r>
              <a:rPr lang="en-US" sz="2000" dirty="0" err="1">
                <a:latin typeface="Times New Roman" panose="02020603050405020304" pitchFamily="18" charset="0"/>
                <a:cs typeface="Times New Roman" panose="02020603050405020304" pitchFamily="18" charset="0"/>
              </a:rPr>
              <a:t>Spivack</a:t>
            </a:r>
            <a:r>
              <a:rPr lang="en-US" sz="2000" dirty="0">
                <a:latin typeface="Times New Roman" panose="02020603050405020304" pitchFamily="18" charset="0"/>
                <a:cs typeface="Times New Roman" panose="02020603050405020304" pitchFamily="18" charset="0"/>
              </a:rPr>
              <a:t>, E. (2021, September 24). </a:t>
            </a:r>
            <a:r>
              <a:rPr lang="en-US" sz="2000" i="1" dirty="0">
                <a:latin typeface="Times New Roman" panose="02020603050405020304" pitchFamily="18" charset="0"/>
                <a:cs typeface="Times New Roman" panose="02020603050405020304" pitchFamily="18" charset="0"/>
              </a:rPr>
              <a:t>Spiciness isn’t a taste, and more burning </a:t>
            </a:r>
          </a:p>
          <a:p>
            <a:pPr marL="0" indent="0">
              <a:lnSpc>
                <a:spcPct val="110000"/>
              </a:lnSpc>
              <a:spcBef>
                <a:spcPts val="0"/>
              </a:spcBef>
              <a:buNone/>
              <a:defRPr/>
            </a:pPr>
            <a:r>
              <a:rPr lang="en-US" sz="2000" i="1" dirty="0">
                <a:latin typeface="Times New Roman" panose="02020603050405020304" pitchFamily="18" charset="0"/>
                <a:cs typeface="Times New Roman" panose="02020603050405020304" pitchFamily="18" charset="0"/>
              </a:rPr>
              <a:t>         facts about the mysterious sensation</a:t>
            </a:r>
            <a:r>
              <a:rPr lang="en-US" sz="2000" dirty="0">
                <a:latin typeface="Times New Roman" panose="02020603050405020304" pitchFamily="18" charset="0"/>
                <a:cs typeface="Times New Roman" panose="02020603050405020304" pitchFamily="18" charset="0"/>
              </a:rPr>
              <a:t>. Popular Science. </a:t>
            </a:r>
          </a:p>
          <a:p>
            <a:pPr marL="0" indent="0">
              <a:lnSpc>
                <a:spcPct val="110000"/>
              </a:lnSpc>
              <a:spcBef>
                <a:spcPts val="0"/>
              </a:spcBef>
              <a:buNone/>
              <a:defRPr/>
            </a:pP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3"/>
              </a:rPr>
              <a:t>https://www.popsci.com/science/spicy-basic-taste/</a:t>
            </a:r>
            <a:endParaRPr lang="en-US" sz="2000" dirty="0">
              <a:latin typeface="Times New Roman" panose="02020603050405020304" pitchFamily="18" charset="0"/>
              <a:cs typeface="Times New Roman" panose="02020603050405020304" pitchFamily="18" charset="0"/>
            </a:endParaRPr>
          </a:p>
          <a:p>
            <a:pPr marL="0" indent="0">
              <a:lnSpc>
                <a:spcPct val="110000"/>
              </a:lnSpc>
              <a:spcBef>
                <a:spcPts val="0"/>
              </a:spcBef>
              <a:buNone/>
              <a:defRPr/>
            </a:pPr>
            <a:r>
              <a:rPr lang="en-US" sz="2000" dirty="0">
                <a:latin typeface="Times New Roman" panose="02020603050405020304" pitchFamily="18" charset="0"/>
                <a:cs typeface="Times New Roman" panose="02020603050405020304" pitchFamily="18" charset="0"/>
              </a:rPr>
              <a:t> </a:t>
            </a:r>
          </a:p>
          <a:p>
            <a:pPr marL="0" indent="0">
              <a:lnSpc>
                <a:spcPct val="110000"/>
              </a:lnSpc>
              <a:spcBef>
                <a:spcPts val="0"/>
              </a:spcBef>
              <a:buNone/>
              <a:defRPr/>
            </a:pPr>
            <a:endParaRPr lang="en-US" altLang="en-US" sz="2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95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7">
                                            <p:txEl>
                                              <p:pRg st="3" end="3"/>
                                            </p:txEl>
                                          </p:spTgt>
                                        </p:tgtEl>
                                        <p:attrNameLst>
                                          <p:attrName>style.visibility</p:attrName>
                                        </p:attrNameLst>
                                      </p:cBhvr>
                                      <p:to>
                                        <p:strVal val="visible"/>
                                      </p:to>
                                    </p:set>
                                    <p:anim calcmode="lin" valueType="num">
                                      <p:cBhvr additive="base">
                                        <p:cTn id="19"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467">
                                            <p:txEl>
                                              <p:pRg st="4" end="4"/>
                                            </p:txEl>
                                          </p:spTgt>
                                        </p:tgtEl>
                                        <p:attrNameLst>
                                          <p:attrName>style.visibility</p:attrName>
                                        </p:attrNameLst>
                                      </p:cBhvr>
                                      <p:to>
                                        <p:strVal val="visible"/>
                                      </p:to>
                                    </p:set>
                                    <p:anim calcmode="lin" valueType="num">
                                      <p:cBhvr additive="base">
                                        <p:cTn id="25" dur="5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4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2467">
                                            <p:txEl>
                                              <p:pRg st="5" end="5"/>
                                            </p:txEl>
                                          </p:spTgt>
                                        </p:tgtEl>
                                        <p:attrNameLst>
                                          <p:attrName>style.visibility</p:attrName>
                                        </p:attrNameLst>
                                      </p:cBhvr>
                                      <p:to>
                                        <p:strVal val="visible"/>
                                      </p:to>
                                    </p:set>
                                    <p:anim calcmode="lin" valueType="num">
                                      <p:cBhvr additive="base">
                                        <p:cTn id="31" dur="5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4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2467">
                                            <p:txEl>
                                              <p:pRg st="6" end="6"/>
                                            </p:txEl>
                                          </p:spTgt>
                                        </p:tgtEl>
                                        <p:attrNameLst>
                                          <p:attrName>style.visibility</p:attrName>
                                        </p:attrNameLst>
                                      </p:cBhvr>
                                      <p:to>
                                        <p:strVal val="visible"/>
                                      </p:to>
                                    </p:set>
                                    <p:anim calcmode="lin" valueType="num">
                                      <p:cBhvr additive="base">
                                        <p:cTn id="37" dur="500" fill="hold"/>
                                        <p:tgtEl>
                                          <p:spTgt spid="624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24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6140</TotalTime>
  <Words>486</Words>
  <Application>Microsoft Macintosh PowerPoint</Application>
  <PresentationFormat>Custom</PresentationFormat>
  <Paragraphs>54</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Bradley Hand ITC</vt:lpstr>
      <vt:lpstr>Calibri</vt:lpstr>
      <vt:lpstr>Calibri Light</vt:lpstr>
      <vt:lpstr>Figtree</vt:lpstr>
      <vt:lpstr>Times New Roman</vt:lpstr>
      <vt:lpstr>Office Theme</vt:lpstr>
      <vt:lpstr>Food and Beverage Department </vt:lpstr>
      <vt:lpstr>How We Taste </vt:lpstr>
      <vt:lpstr>How We Taste </vt:lpstr>
      <vt:lpstr>Facts: UMAMI in Western Culture </vt:lpstr>
      <vt:lpstr>SPICY Is “NOT” one of the 5 Tastes </vt:lpstr>
      <vt:lpstr>SPICY Is “NOT” one of the 5 Tastes</vt:lpstr>
      <vt:lpstr>Do you Remember ?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oit</dc:creator>
  <cp:lastModifiedBy>Mana Azizsoltani</cp:lastModifiedBy>
  <cp:revision>151</cp:revision>
  <cp:lastPrinted>2015-02-10T21:10:54Z</cp:lastPrinted>
  <dcterms:created xsi:type="dcterms:W3CDTF">2015-01-08T17:09:01Z</dcterms:created>
  <dcterms:modified xsi:type="dcterms:W3CDTF">2026-02-02T02:01:29Z</dcterms:modified>
</cp:coreProperties>
</file>